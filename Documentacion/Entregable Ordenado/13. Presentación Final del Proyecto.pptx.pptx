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ileron Ultra-Bold" charset="1" panose="00000A00000000000000"/>
      <p:regular r:id="rId23"/>
    </p:embeddedFont>
    <p:embeddedFont>
      <p:font typeface="Aileron Bold" charset="1" panose="00000800000000000000"/>
      <p:regular r:id="rId24"/>
    </p:embeddedFont>
    <p:embeddedFont>
      <p:font typeface="Open Sauce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jpeg" Type="http://schemas.openxmlformats.org/officeDocument/2006/relationships/image"/><Relationship Id="rId7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7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jpeg" Type="http://schemas.openxmlformats.org/officeDocument/2006/relationships/image"/><Relationship Id="rId7" Target="../media/image4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939317" y="-3888299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6" y="0"/>
                </a:lnTo>
                <a:lnTo>
                  <a:pt x="12508396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653613" y="2076268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7" y="0"/>
                </a:lnTo>
                <a:lnTo>
                  <a:pt x="12508397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47286" y="4552140"/>
            <a:ext cx="8680221" cy="5884467"/>
          </a:xfrm>
          <a:custGeom>
            <a:avLst/>
            <a:gdLst/>
            <a:ahLst/>
            <a:cxnLst/>
            <a:rect r="r" b="b" t="t" l="l"/>
            <a:pathLst>
              <a:path h="5884467" w="8680221">
                <a:moveTo>
                  <a:pt x="0" y="0"/>
                </a:moveTo>
                <a:lnTo>
                  <a:pt x="8680221" y="0"/>
                </a:lnTo>
                <a:lnTo>
                  <a:pt x="8680221" y="5884466"/>
                </a:lnTo>
                <a:lnTo>
                  <a:pt x="0" y="5884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139507" y="-149606"/>
            <a:ext cx="6038484" cy="4093589"/>
          </a:xfrm>
          <a:custGeom>
            <a:avLst/>
            <a:gdLst/>
            <a:ahLst/>
            <a:cxnLst/>
            <a:rect r="r" b="b" t="t" l="l"/>
            <a:pathLst>
              <a:path h="4093589" w="6038484">
                <a:moveTo>
                  <a:pt x="0" y="0"/>
                </a:moveTo>
                <a:lnTo>
                  <a:pt x="6038484" y="0"/>
                </a:lnTo>
                <a:lnTo>
                  <a:pt x="6038484" y="4093589"/>
                </a:lnTo>
                <a:lnTo>
                  <a:pt x="0" y="4093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67361" y="2741689"/>
            <a:ext cx="6203626" cy="62036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49156" y="2923485"/>
            <a:ext cx="5840034" cy="584003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926" t="-24906" r="-2848" b="-35056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33694" y="4685293"/>
            <a:ext cx="9638901" cy="189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13"/>
              </a:lnSpc>
            </a:pPr>
            <a:r>
              <a:rPr lang="en-US" sz="11009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POINTCHECK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54482" y="1117146"/>
            <a:ext cx="3842966" cy="38429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74578" y="1237242"/>
            <a:ext cx="3602774" cy="360277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1389" r="0" b="-3861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815306" y="0"/>
            <a:ext cx="5472694" cy="1370830"/>
          </a:xfrm>
          <a:custGeom>
            <a:avLst/>
            <a:gdLst/>
            <a:ahLst/>
            <a:cxnLst/>
            <a:rect r="r" b="b" t="t" l="l"/>
            <a:pathLst>
              <a:path h="1370830" w="5472694">
                <a:moveTo>
                  <a:pt x="0" y="0"/>
                </a:moveTo>
                <a:lnTo>
                  <a:pt x="5472694" y="0"/>
                </a:lnTo>
                <a:lnTo>
                  <a:pt x="5472694" y="1370830"/>
                </a:lnTo>
                <a:lnTo>
                  <a:pt x="0" y="1370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33694" y="3727812"/>
            <a:ext cx="7810306" cy="122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2"/>
              </a:lnSpc>
            </a:pPr>
            <a:r>
              <a:rPr lang="en-US" sz="7080" b="true">
                <a:solidFill>
                  <a:srgbClr val="2D32A2"/>
                </a:solidFill>
                <a:latin typeface="Aileron Bold"/>
                <a:ea typeface="Aileron Bold"/>
                <a:cs typeface="Aileron Bold"/>
                <a:sym typeface="Aileron Bold"/>
              </a:rPr>
              <a:t>PROYECTO FINAL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01743" y="-4604658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7" y="0"/>
                </a:lnTo>
                <a:lnTo>
                  <a:pt x="12508397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82028" y="1604256"/>
            <a:ext cx="5389402" cy="146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1"/>
              </a:lnSpc>
            </a:pPr>
            <a:r>
              <a:rPr lang="en-US" sz="90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ÍNDICE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1229038" y="5446062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6" y="0"/>
                </a:lnTo>
                <a:lnTo>
                  <a:pt x="12508396" y="12099030"/>
                </a:lnTo>
                <a:lnTo>
                  <a:pt x="0" y="1209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79578" y="584901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79578" y="1437983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59600" y="728547"/>
            <a:ext cx="6823336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Integrantes y roles del Equipo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59600" y="1581629"/>
            <a:ext cx="4320394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Descripción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79578" y="2291065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59600" y="2434710"/>
            <a:ext cx="2906464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Objetivos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79578" y="3144147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59600" y="3287792"/>
            <a:ext cx="5812928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Alcances y Limitaciones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79578" y="3997229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59600" y="4140874"/>
            <a:ext cx="6823336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Metodología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79578" y="4850311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9600" y="4993956"/>
            <a:ext cx="4148242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Arquitectura de Software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79578" y="5703393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59600" y="5847038"/>
            <a:ext cx="4320394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Modelo de Datos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79578" y="6556474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08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-139507" y="4552140"/>
            <a:ext cx="8680221" cy="5884467"/>
          </a:xfrm>
          <a:custGeom>
            <a:avLst/>
            <a:gdLst/>
            <a:ahLst/>
            <a:cxnLst/>
            <a:rect r="r" b="b" t="t" l="l"/>
            <a:pathLst>
              <a:path h="5884467" w="8680221">
                <a:moveTo>
                  <a:pt x="8680221" y="0"/>
                </a:moveTo>
                <a:lnTo>
                  <a:pt x="0" y="0"/>
                </a:lnTo>
                <a:lnTo>
                  <a:pt x="0" y="5884466"/>
                </a:lnTo>
                <a:lnTo>
                  <a:pt x="8680221" y="5884466"/>
                </a:lnTo>
                <a:lnTo>
                  <a:pt x="868022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279578" y="7406817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59600" y="6662785"/>
            <a:ext cx="4320394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Resultados Obtenidos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79578" y="8257160"/>
            <a:ext cx="1080021" cy="6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10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79578" y="9107502"/>
            <a:ext cx="1080021" cy="127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11</a:t>
            </a:r>
          </a:p>
          <a:p>
            <a:pPr algn="l">
              <a:lnSpc>
                <a:spcPts val="510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359600" y="7568742"/>
            <a:ext cx="4320394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Obstaculos del Desarrollo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59600" y="9250377"/>
            <a:ext cx="4320394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Conclusión y preguntas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507841" y="0"/>
            <a:ext cx="4780159" cy="1197360"/>
          </a:xfrm>
          <a:custGeom>
            <a:avLst/>
            <a:gdLst/>
            <a:ahLst/>
            <a:cxnLst/>
            <a:rect r="r" b="b" t="t" l="l"/>
            <a:pathLst>
              <a:path h="1197360" w="4780159">
                <a:moveTo>
                  <a:pt x="0" y="0"/>
                </a:moveTo>
                <a:lnTo>
                  <a:pt x="4780159" y="0"/>
                </a:lnTo>
                <a:lnTo>
                  <a:pt x="4780159" y="1197360"/>
                </a:lnTo>
                <a:lnTo>
                  <a:pt x="0" y="11973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359600" y="8441206"/>
            <a:ext cx="4320394" cy="4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2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Mostrar Programa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16624" y="3440725"/>
            <a:ext cx="2730084" cy="273008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04915" y="3360720"/>
            <a:ext cx="2730084" cy="273008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96628" y="3520729"/>
            <a:ext cx="2570075" cy="257007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884920" y="3440725"/>
            <a:ext cx="2570075" cy="257007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49600" y="3360720"/>
            <a:ext cx="2730084" cy="273008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129604" y="3440725"/>
            <a:ext cx="2570075" cy="257007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815306" y="0"/>
            <a:ext cx="5472694" cy="1370830"/>
          </a:xfrm>
          <a:custGeom>
            <a:avLst/>
            <a:gdLst/>
            <a:ahLst/>
            <a:cxnLst/>
            <a:rect r="r" b="b" t="t" l="l"/>
            <a:pathLst>
              <a:path h="1370830" w="5472694">
                <a:moveTo>
                  <a:pt x="0" y="0"/>
                </a:moveTo>
                <a:lnTo>
                  <a:pt x="5472694" y="0"/>
                </a:lnTo>
                <a:lnTo>
                  <a:pt x="5472694" y="1370830"/>
                </a:lnTo>
                <a:lnTo>
                  <a:pt x="0" y="1370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86463" y="1368658"/>
            <a:ext cx="11522839" cy="109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8"/>
              </a:lnSpc>
            </a:pPr>
            <a:r>
              <a:rPr lang="en-US" sz="6699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Integrantes del equipo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01768" y="6564186"/>
            <a:ext cx="4159795" cy="531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sz="3083" b="true">
                <a:solidFill>
                  <a:srgbClr val="2D32A2"/>
                </a:solidFill>
                <a:latin typeface="Aileron Bold"/>
                <a:ea typeface="Aileron Bold"/>
                <a:cs typeface="Aileron Bold"/>
                <a:sym typeface="Aileron Bold"/>
              </a:rPr>
              <a:t>Máximo Zúñiga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24562" y="7177415"/>
            <a:ext cx="3314208" cy="37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1"/>
              </a:lnSpc>
              <a:spcBef>
                <a:spcPct val="0"/>
              </a:spcBef>
            </a:pPr>
            <a:r>
              <a:rPr lang="en-US" sz="22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Director del Proyecto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86244" y="7182929"/>
            <a:ext cx="3314208" cy="37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1"/>
              </a:lnSpc>
              <a:spcBef>
                <a:spcPct val="0"/>
              </a:spcBef>
            </a:pPr>
            <a:r>
              <a:rPr lang="en-US" sz="22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Desarrollador Backend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67091" y="6569699"/>
            <a:ext cx="4152514" cy="531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sz="3083" b="true">
                <a:solidFill>
                  <a:srgbClr val="2D32A2"/>
                </a:solidFill>
                <a:latin typeface="Aileron Bold"/>
                <a:ea typeface="Aileron Bold"/>
                <a:cs typeface="Aileron Bold"/>
                <a:sym typeface="Aileron Bold"/>
              </a:rPr>
              <a:t>Ismael Jimenez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24480" y="6575213"/>
            <a:ext cx="4463844" cy="531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sz="3083" b="true">
                <a:solidFill>
                  <a:srgbClr val="2D32A2"/>
                </a:solidFill>
                <a:latin typeface="Aileron Bold"/>
                <a:ea typeface="Aileron Bold"/>
                <a:cs typeface="Aileron Bold"/>
                <a:sym typeface="Aileron Bold"/>
              </a:rPr>
              <a:t>Benjamin Devia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99298" y="7188442"/>
            <a:ext cx="3314208" cy="37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1"/>
              </a:lnSpc>
              <a:spcBef>
                <a:spcPct val="0"/>
              </a:spcBef>
            </a:pPr>
            <a:r>
              <a:rPr lang="en-US" sz="22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Desarrollador UI-UX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24562" y="7709058"/>
            <a:ext cx="3314208" cy="136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</a:pPr>
            <a:r>
              <a:rPr lang="en-US" sz="19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-Documentacion del proyecto</a:t>
            </a:r>
          </a:p>
          <a:p>
            <a:pPr algn="ctr">
              <a:lnSpc>
                <a:spcPts val="2721"/>
              </a:lnSpc>
            </a:pPr>
            <a:r>
              <a:rPr lang="en-US" sz="19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-Informes Sprint</a:t>
            </a:r>
          </a:p>
          <a:p>
            <a:pPr algn="ctr" marL="0" indent="0" lvl="0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-Seguimiento general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86896" y="7709058"/>
            <a:ext cx="3314208" cy="136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</a:pPr>
            <a:r>
              <a:rPr lang="en-US" sz="19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-Desarrollo backend</a:t>
            </a:r>
          </a:p>
          <a:p>
            <a:pPr algn="ctr">
              <a:lnSpc>
                <a:spcPts val="2721"/>
              </a:lnSpc>
            </a:pPr>
            <a:r>
              <a:rPr lang="en-US" sz="19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-Implementacion de logica de negocio</a:t>
            </a:r>
          </a:p>
          <a:p>
            <a:pPr algn="ctr" marL="0" indent="0" lvl="0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-Seguridad del proyecto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57538" y="7709058"/>
            <a:ext cx="3314208" cy="136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</a:pPr>
            <a:r>
              <a:rPr lang="en-US" sz="19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-Desarrollo Frontend</a:t>
            </a:r>
          </a:p>
          <a:p>
            <a:pPr algn="ctr">
              <a:lnSpc>
                <a:spcPts val="2721"/>
              </a:lnSpc>
            </a:pPr>
            <a:r>
              <a:rPr lang="en-US" sz="19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-Diseño Interfaz de Usuario</a:t>
            </a:r>
          </a:p>
          <a:p>
            <a:pPr algn="ctr" marL="0" indent="0" lvl="0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-Integracio de la app movil con el backend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939317" y="-3888299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6" y="0"/>
                </a:lnTo>
                <a:lnTo>
                  <a:pt x="12508396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653613" y="2076268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7" y="0"/>
                </a:lnTo>
                <a:lnTo>
                  <a:pt x="12508397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66393" y="6551359"/>
            <a:ext cx="5720058" cy="3877723"/>
          </a:xfrm>
          <a:custGeom>
            <a:avLst/>
            <a:gdLst/>
            <a:ahLst/>
            <a:cxnLst/>
            <a:rect r="r" b="b" t="t" l="l"/>
            <a:pathLst>
              <a:path h="3877723" w="5720058">
                <a:moveTo>
                  <a:pt x="0" y="0"/>
                </a:moveTo>
                <a:lnTo>
                  <a:pt x="5720059" y="0"/>
                </a:lnTo>
                <a:lnTo>
                  <a:pt x="5720059" y="3877723"/>
                </a:lnTo>
                <a:lnTo>
                  <a:pt x="0" y="3877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98452" y="-142082"/>
            <a:ext cx="5720058" cy="3877723"/>
          </a:xfrm>
          <a:custGeom>
            <a:avLst/>
            <a:gdLst/>
            <a:ahLst/>
            <a:cxnLst/>
            <a:rect r="r" b="b" t="t" l="l"/>
            <a:pathLst>
              <a:path h="3877723" w="5720058">
                <a:moveTo>
                  <a:pt x="0" y="0"/>
                </a:moveTo>
                <a:lnTo>
                  <a:pt x="5720059" y="0"/>
                </a:lnTo>
                <a:lnTo>
                  <a:pt x="5720059" y="3877723"/>
                </a:lnTo>
                <a:lnTo>
                  <a:pt x="0" y="3877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41142" y="1632647"/>
            <a:ext cx="8205715" cy="231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0"/>
              </a:lnSpc>
            </a:pPr>
            <a:r>
              <a:rPr lang="en-US" sz="71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DESCRIPCIÓN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96861" y="6295724"/>
            <a:ext cx="5127237" cy="381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39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Muchos profesionales aún utilizan agendas físicas o aplicaciones de mensajería para administrar reservas, lo que provoca pérdida de información, sobreagendamiento, poca trazabilidad y dificultades para controlar ingresos.</a:t>
            </a:r>
          </a:p>
          <a:p>
            <a:pPr algn="ctr">
              <a:lnSpc>
                <a:spcPts val="335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634088" y="4657565"/>
            <a:ext cx="4852784" cy="1205729"/>
            <a:chOff x="0" y="0"/>
            <a:chExt cx="1314446" cy="3265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4446" cy="326589"/>
            </a:xfrm>
            <a:custGeom>
              <a:avLst/>
              <a:gdLst/>
              <a:ahLst/>
              <a:cxnLst/>
              <a:rect r="r" b="b" t="t" l="l"/>
              <a:pathLst>
                <a:path h="326589" w="1314446">
                  <a:moveTo>
                    <a:pt x="39884" y="0"/>
                  </a:moveTo>
                  <a:lnTo>
                    <a:pt x="1274562" y="0"/>
                  </a:lnTo>
                  <a:cubicBezTo>
                    <a:pt x="1296589" y="0"/>
                    <a:pt x="1314446" y="17857"/>
                    <a:pt x="1314446" y="39884"/>
                  </a:cubicBezTo>
                  <a:lnTo>
                    <a:pt x="1314446" y="286705"/>
                  </a:lnTo>
                  <a:cubicBezTo>
                    <a:pt x="1314446" y="308732"/>
                    <a:pt x="1296589" y="326589"/>
                    <a:pt x="1274562" y="326589"/>
                  </a:cubicBezTo>
                  <a:lnTo>
                    <a:pt x="39884" y="326589"/>
                  </a:lnTo>
                  <a:cubicBezTo>
                    <a:pt x="17857" y="326589"/>
                    <a:pt x="0" y="308732"/>
                    <a:pt x="0" y="286705"/>
                  </a:cubicBezTo>
                  <a:lnTo>
                    <a:pt x="0" y="39884"/>
                  </a:lnTo>
                  <a:cubicBezTo>
                    <a:pt x="0" y="17857"/>
                    <a:pt x="17857" y="0"/>
                    <a:pt x="39884" y="0"/>
                  </a:cubicBezTo>
                  <a:close/>
                </a:path>
              </a:pathLst>
            </a:custGeom>
            <a:solidFill>
              <a:srgbClr val="2D32A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14446" cy="383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384014" y="4926524"/>
            <a:ext cx="3352931" cy="61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10"/>
              </a:lnSpc>
              <a:spcBef>
                <a:spcPct val="0"/>
              </a:spcBef>
            </a:pPr>
            <a:r>
              <a:rPr lang="en-US" b="true" sz="3776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21274" y="6295724"/>
            <a:ext cx="5212493" cy="318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</a:pPr>
            <a:r>
              <a:rPr lang="en-US" sz="257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Desarrollar una aplicación Android integrada con un backend Spring Boot capaz de centralizar toda la operación del negocio, incorporando seguridad, reportes, analítica y administración multirol.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01128" y="4657565"/>
            <a:ext cx="4852784" cy="1205729"/>
            <a:chOff x="0" y="0"/>
            <a:chExt cx="1314446" cy="3265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4446" cy="326589"/>
            </a:xfrm>
            <a:custGeom>
              <a:avLst/>
              <a:gdLst/>
              <a:ahLst/>
              <a:cxnLst/>
              <a:rect r="r" b="b" t="t" l="l"/>
              <a:pathLst>
                <a:path h="326589" w="1314446">
                  <a:moveTo>
                    <a:pt x="39884" y="0"/>
                  </a:moveTo>
                  <a:lnTo>
                    <a:pt x="1274562" y="0"/>
                  </a:lnTo>
                  <a:cubicBezTo>
                    <a:pt x="1296589" y="0"/>
                    <a:pt x="1314446" y="17857"/>
                    <a:pt x="1314446" y="39884"/>
                  </a:cubicBezTo>
                  <a:lnTo>
                    <a:pt x="1314446" y="286705"/>
                  </a:lnTo>
                  <a:cubicBezTo>
                    <a:pt x="1314446" y="308732"/>
                    <a:pt x="1296589" y="326589"/>
                    <a:pt x="1274562" y="326589"/>
                  </a:cubicBezTo>
                  <a:lnTo>
                    <a:pt x="39884" y="326589"/>
                  </a:lnTo>
                  <a:cubicBezTo>
                    <a:pt x="17857" y="326589"/>
                    <a:pt x="0" y="308732"/>
                    <a:pt x="0" y="286705"/>
                  </a:cubicBezTo>
                  <a:lnTo>
                    <a:pt x="0" y="39884"/>
                  </a:lnTo>
                  <a:cubicBezTo>
                    <a:pt x="0" y="17857"/>
                    <a:pt x="17857" y="0"/>
                    <a:pt x="39884" y="0"/>
                  </a:cubicBezTo>
                  <a:close/>
                </a:path>
              </a:pathLst>
            </a:custGeom>
            <a:solidFill>
              <a:srgbClr val="2D32A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314446" cy="383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51055" y="4926524"/>
            <a:ext cx="3352931" cy="61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10"/>
              </a:lnSpc>
              <a:spcBef>
                <a:spcPct val="0"/>
              </a:spcBef>
            </a:pPr>
            <a:r>
              <a:rPr lang="en-US" b="true" sz="3776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SOLUCIÓN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815306" y="0"/>
            <a:ext cx="5472694" cy="1370830"/>
          </a:xfrm>
          <a:custGeom>
            <a:avLst/>
            <a:gdLst/>
            <a:ahLst/>
            <a:cxnLst/>
            <a:rect r="r" b="b" t="t" l="l"/>
            <a:pathLst>
              <a:path h="1370830" w="5472694">
                <a:moveTo>
                  <a:pt x="0" y="0"/>
                </a:moveTo>
                <a:lnTo>
                  <a:pt x="5472694" y="0"/>
                </a:lnTo>
                <a:lnTo>
                  <a:pt x="5472694" y="1370830"/>
                </a:lnTo>
                <a:lnTo>
                  <a:pt x="0" y="1370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6513389" y="2001462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6" y="0"/>
                </a:lnTo>
                <a:lnTo>
                  <a:pt x="12508396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66393" y="6551359"/>
            <a:ext cx="5720058" cy="3877723"/>
          </a:xfrm>
          <a:custGeom>
            <a:avLst/>
            <a:gdLst/>
            <a:ahLst/>
            <a:cxnLst/>
            <a:rect r="r" b="b" t="t" l="l"/>
            <a:pathLst>
              <a:path h="3877723" w="5720058">
                <a:moveTo>
                  <a:pt x="0" y="0"/>
                </a:moveTo>
                <a:lnTo>
                  <a:pt x="5720059" y="0"/>
                </a:lnTo>
                <a:lnTo>
                  <a:pt x="5720059" y="3877723"/>
                </a:lnTo>
                <a:lnTo>
                  <a:pt x="0" y="3877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98452" y="-142082"/>
            <a:ext cx="5720058" cy="3877723"/>
          </a:xfrm>
          <a:custGeom>
            <a:avLst/>
            <a:gdLst/>
            <a:ahLst/>
            <a:cxnLst/>
            <a:rect r="r" b="b" t="t" l="l"/>
            <a:pathLst>
              <a:path h="3877723" w="5720058">
                <a:moveTo>
                  <a:pt x="0" y="0"/>
                </a:moveTo>
                <a:lnTo>
                  <a:pt x="5720059" y="0"/>
                </a:lnTo>
                <a:lnTo>
                  <a:pt x="5720059" y="3877723"/>
                </a:lnTo>
                <a:lnTo>
                  <a:pt x="0" y="3877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41142" y="962025"/>
            <a:ext cx="8205715" cy="231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0"/>
              </a:lnSpc>
            </a:pPr>
            <a:r>
              <a:rPr lang="en-US" sz="71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OBJETIVOS</a:t>
            </a:r>
          </a:p>
          <a:p>
            <a:pPr algn="ctr">
              <a:lnSpc>
                <a:spcPts val="9290"/>
              </a:lnSpc>
            </a:pPr>
            <a:r>
              <a:rPr lang="en-US" sz="71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DEL PROYECTO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810512" y="3613274"/>
            <a:ext cx="4852784" cy="1205729"/>
            <a:chOff x="0" y="0"/>
            <a:chExt cx="1314446" cy="3265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4446" cy="326589"/>
            </a:xfrm>
            <a:custGeom>
              <a:avLst/>
              <a:gdLst/>
              <a:ahLst/>
              <a:cxnLst/>
              <a:rect r="r" b="b" t="t" l="l"/>
              <a:pathLst>
                <a:path h="326589" w="1314446">
                  <a:moveTo>
                    <a:pt x="39884" y="0"/>
                  </a:moveTo>
                  <a:lnTo>
                    <a:pt x="1274562" y="0"/>
                  </a:lnTo>
                  <a:cubicBezTo>
                    <a:pt x="1296589" y="0"/>
                    <a:pt x="1314446" y="17857"/>
                    <a:pt x="1314446" y="39884"/>
                  </a:cubicBezTo>
                  <a:lnTo>
                    <a:pt x="1314446" y="286705"/>
                  </a:lnTo>
                  <a:cubicBezTo>
                    <a:pt x="1314446" y="308732"/>
                    <a:pt x="1296589" y="326589"/>
                    <a:pt x="1274562" y="326589"/>
                  </a:cubicBezTo>
                  <a:lnTo>
                    <a:pt x="39884" y="326589"/>
                  </a:lnTo>
                  <a:cubicBezTo>
                    <a:pt x="17857" y="326589"/>
                    <a:pt x="0" y="308732"/>
                    <a:pt x="0" y="286705"/>
                  </a:cubicBezTo>
                  <a:lnTo>
                    <a:pt x="0" y="39884"/>
                  </a:lnTo>
                  <a:cubicBezTo>
                    <a:pt x="0" y="17857"/>
                    <a:pt x="17857" y="0"/>
                    <a:pt x="39884" y="0"/>
                  </a:cubicBezTo>
                  <a:close/>
                </a:path>
              </a:pathLst>
            </a:custGeom>
            <a:solidFill>
              <a:srgbClr val="2D32A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14446" cy="383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560439" y="3882233"/>
            <a:ext cx="3352931" cy="61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10"/>
              </a:lnSpc>
              <a:spcBef>
                <a:spcPct val="0"/>
              </a:spcBef>
            </a:pPr>
            <a:r>
              <a:rPr lang="en-US" b="true" sz="3776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PRINCIPAL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40001" y="3613274"/>
            <a:ext cx="4852784" cy="1205729"/>
            <a:chOff x="0" y="0"/>
            <a:chExt cx="1314446" cy="3265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4446" cy="326589"/>
            </a:xfrm>
            <a:custGeom>
              <a:avLst/>
              <a:gdLst/>
              <a:ahLst/>
              <a:cxnLst/>
              <a:rect r="r" b="b" t="t" l="l"/>
              <a:pathLst>
                <a:path h="326589" w="1314446">
                  <a:moveTo>
                    <a:pt x="39884" y="0"/>
                  </a:moveTo>
                  <a:lnTo>
                    <a:pt x="1274562" y="0"/>
                  </a:lnTo>
                  <a:cubicBezTo>
                    <a:pt x="1296589" y="0"/>
                    <a:pt x="1314446" y="17857"/>
                    <a:pt x="1314446" y="39884"/>
                  </a:cubicBezTo>
                  <a:lnTo>
                    <a:pt x="1314446" y="286705"/>
                  </a:lnTo>
                  <a:cubicBezTo>
                    <a:pt x="1314446" y="308732"/>
                    <a:pt x="1296589" y="326589"/>
                    <a:pt x="1274562" y="326589"/>
                  </a:cubicBezTo>
                  <a:lnTo>
                    <a:pt x="39884" y="326589"/>
                  </a:lnTo>
                  <a:cubicBezTo>
                    <a:pt x="17857" y="326589"/>
                    <a:pt x="0" y="308732"/>
                    <a:pt x="0" y="286705"/>
                  </a:cubicBezTo>
                  <a:lnTo>
                    <a:pt x="0" y="39884"/>
                  </a:lnTo>
                  <a:cubicBezTo>
                    <a:pt x="0" y="17857"/>
                    <a:pt x="17857" y="0"/>
                    <a:pt x="39884" y="0"/>
                  </a:cubicBezTo>
                  <a:close/>
                </a:path>
              </a:pathLst>
            </a:custGeom>
            <a:solidFill>
              <a:srgbClr val="2D32A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14446" cy="383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89928" y="3882233"/>
            <a:ext cx="3352931" cy="61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10"/>
              </a:lnSpc>
              <a:spcBef>
                <a:spcPct val="0"/>
              </a:spcBef>
            </a:pPr>
            <a:r>
              <a:rPr lang="en-US" b="true" sz="3776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ESPECÍFICOS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406562" y="5522695"/>
            <a:ext cx="2635269" cy="1969809"/>
            <a:chOff x="0" y="0"/>
            <a:chExt cx="1319917" cy="9866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9917" cy="986611"/>
            </a:xfrm>
            <a:custGeom>
              <a:avLst/>
              <a:gdLst/>
              <a:ahLst/>
              <a:cxnLst/>
              <a:rect r="r" b="b" t="t" l="l"/>
              <a:pathLst>
                <a:path h="986611" w="1319917">
                  <a:moveTo>
                    <a:pt x="102823" y="0"/>
                  </a:moveTo>
                  <a:lnTo>
                    <a:pt x="1217094" y="0"/>
                  </a:lnTo>
                  <a:cubicBezTo>
                    <a:pt x="1273882" y="0"/>
                    <a:pt x="1319917" y="46036"/>
                    <a:pt x="1319917" y="102823"/>
                  </a:cubicBezTo>
                  <a:lnTo>
                    <a:pt x="1319917" y="883788"/>
                  </a:lnTo>
                  <a:cubicBezTo>
                    <a:pt x="1319917" y="940575"/>
                    <a:pt x="1273882" y="986611"/>
                    <a:pt x="1217094" y="986611"/>
                  </a:cubicBezTo>
                  <a:lnTo>
                    <a:pt x="102823" y="986611"/>
                  </a:lnTo>
                  <a:cubicBezTo>
                    <a:pt x="46036" y="986611"/>
                    <a:pt x="0" y="940575"/>
                    <a:pt x="0" y="883788"/>
                  </a:cubicBezTo>
                  <a:lnTo>
                    <a:pt x="0" y="102823"/>
                  </a:lnTo>
                  <a:cubicBezTo>
                    <a:pt x="0" y="46036"/>
                    <a:pt x="46036" y="0"/>
                    <a:pt x="102823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19917" cy="1043761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48759" y="5522695"/>
            <a:ext cx="2635269" cy="1969809"/>
            <a:chOff x="0" y="0"/>
            <a:chExt cx="1319917" cy="9866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9917" cy="986611"/>
            </a:xfrm>
            <a:custGeom>
              <a:avLst/>
              <a:gdLst/>
              <a:ahLst/>
              <a:cxnLst/>
              <a:rect r="r" b="b" t="t" l="l"/>
              <a:pathLst>
                <a:path h="986611" w="1319917">
                  <a:moveTo>
                    <a:pt x="102823" y="0"/>
                  </a:moveTo>
                  <a:lnTo>
                    <a:pt x="1217094" y="0"/>
                  </a:lnTo>
                  <a:cubicBezTo>
                    <a:pt x="1273882" y="0"/>
                    <a:pt x="1319917" y="46036"/>
                    <a:pt x="1319917" y="102823"/>
                  </a:cubicBezTo>
                  <a:lnTo>
                    <a:pt x="1319917" y="883788"/>
                  </a:lnTo>
                  <a:cubicBezTo>
                    <a:pt x="1319917" y="940575"/>
                    <a:pt x="1273882" y="986611"/>
                    <a:pt x="1217094" y="986611"/>
                  </a:cubicBezTo>
                  <a:lnTo>
                    <a:pt x="102823" y="986611"/>
                  </a:lnTo>
                  <a:cubicBezTo>
                    <a:pt x="46036" y="986611"/>
                    <a:pt x="0" y="940575"/>
                    <a:pt x="0" y="883788"/>
                  </a:cubicBezTo>
                  <a:lnTo>
                    <a:pt x="0" y="102823"/>
                  </a:lnTo>
                  <a:cubicBezTo>
                    <a:pt x="0" y="46036"/>
                    <a:pt x="46036" y="0"/>
                    <a:pt x="102823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19917" cy="1043761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290956" y="5522695"/>
            <a:ext cx="2635269" cy="1969809"/>
            <a:chOff x="0" y="0"/>
            <a:chExt cx="1319917" cy="9866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9917" cy="986611"/>
            </a:xfrm>
            <a:custGeom>
              <a:avLst/>
              <a:gdLst/>
              <a:ahLst/>
              <a:cxnLst/>
              <a:rect r="r" b="b" t="t" l="l"/>
              <a:pathLst>
                <a:path h="986611" w="1319917">
                  <a:moveTo>
                    <a:pt x="102823" y="0"/>
                  </a:moveTo>
                  <a:lnTo>
                    <a:pt x="1217094" y="0"/>
                  </a:lnTo>
                  <a:cubicBezTo>
                    <a:pt x="1273882" y="0"/>
                    <a:pt x="1319917" y="46036"/>
                    <a:pt x="1319917" y="102823"/>
                  </a:cubicBezTo>
                  <a:lnTo>
                    <a:pt x="1319917" y="883788"/>
                  </a:lnTo>
                  <a:cubicBezTo>
                    <a:pt x="1319917" y="940575"/>
                    <a:pt x="1273882" y="986611"/>
                    <a:pt x="1217094" y="986611"/>
                  </a:cubicBezTo>
                  <a:lnTo>
                    <a:pt x="102823" y="986611"/>
                  </a:lnTo>
                  <a:cubicBezTo>
                    <a:pt x="46036" y="986611"/>
                    <a:pt x="0" y="940575"/>
                    <a:pt x="0" y="883788"/>
                  </a:cubicBezTo>
                  <a:lnTo>
                    <a:pt x="0" y="102823"/>
                  </a:lnTo>
                  <a:cubicBezTo>
                    <a:pt x="0" y="46036"/>
                    <a:pt x="46036" y="0"/>
                    <a:pt x="102823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319917" cy="1043761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43643" y="5143500"/>
            <a:ext cx="758389" cy="758389"/>
            <a:chOff x="0" y="0"/>
            <a:chExt cx="697636" cy="6976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88558" y="5143500"/>
            <a:ext cx="758389" cy="758389"/>
            <a:chOff x="0" y="0"/>
            <a:chExt cx="697636" cy="6976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572404" y="6073752"/>
            <a:ext cx="2187980" cy="28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6"/>
              </a:lnSpc>
              <a:spcBef>
                <a:spcPct val="0"/>
              </a:spcBef>
            </a:pPr>
            <a:r>
              <a:rPr lang="en-US" b="true" sz="1804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80718" y="6453613"/>
            <a:ext cx="2484238" cy="72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365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Diseñar una arquitectura modular basada en Feature-Based Architecture.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72404" y="6489135"/>
            <a:ext cx="2187980" cy="65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22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Implementar una API REST utilizando Spring Boot y JPA/Hibernate.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14600" y="6073752"/>
            <a:ext cx="2187980" cy="28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6"/>
              </a:lnSpc>
              <a:spcBef>
                <a:spcPct val="0"/>
              </a:spcBef>
            </a:pPr>
            <a:r>
              <a:rPr lang="en-US" b="true" sz="1804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 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49009" y="6479024"/>
            <a:ext cx="2253570" cy="65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22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Desarrollar una aplicación Android utilizando Kotlin, Jetpack Compose y MVVM.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78189" y="5324776"/>
            <a:ext cx="689297" cy="36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242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23104" y="5324776"/>
            <a:ext cx="689297" cy="36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242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5233472" y="5143500"/>
            <a:ext cx="758389" cy="758389"/>
            <a:chOff x="0" y="0"/>
            <a:chExt cx="697636" cy="6976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268019" y="5324776"/>
            <a:ext cx="689297" cy="36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242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03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2761578" y="5466703"/>
            <a:ext cx="4825535" cy="3215927"/>
            <a:chOff x="0" y="0"/>
            <a:chExt cx="1778842" cy="118549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78842" cy="1185490"/>
            </a:xfrm>
            <a:custGeom>
              <a:avLst/>
              <a:gdLst/>
              <a:ahLst/>
              <a:cxnLst/>
              <a:rect r="r" b="b" t="t" l="l"/>
              <a:pathLst>
                <a:path h="1185490" w="1778842">
                  <a:moveTo>
                    <a:pt x="56153" y="0"/>
                  </a:moveTo>
                  <a:lnTo>
                    <a:pt x="1722689" y="0"/>
                  </a:lnTo>
                  <a:cubicBezTo>
                    <a:pt x="1737582" y="0"/>
                    <a:pt x="1751865" y="5916"/>
                    <a:pt x="1762395" y="16447"/>
                  </a:cubicBezTo>
                  <a:cubicBezTo>
                    <a:pt x="1772926" y="26977"/>
                    <a:pt x="1778842" y="41260"/>
                    <a:pt x="1778842" y="56153"/>
                  </a:cubicBezTo>
                  <a:lnTo>
                    <a:pt x="1778842" y="1129338"/>
                  </a:lnTo>
                  <a:cubicBezTo>
                    <a:pt x="1778842" y="1144230"/>
                    <a:pt x="1772926" y="1158513"/>
                    <a:pt x="1762395" y="1169044"/>
                  </a:cubicBezTo>
                  <a:cubicBezTo>
                    <a:pt x="1751865" y="1179574"/>
                    <a:pt x="1737582" y="1185490"/>
                    <a:pt x="1722689" y="1185490"/>
                  </a:cubicBezTo>
                  <a:lnTo>
                    <a:pt x="56153" y="1185490"/>
                  </a:lnTo>
                  <a:cubicBezTo>
                    <a:pt x="41260" y="1185490"/>
                    <a:pt x="26977" y="1179574"/>
                    <a:pt x="16447" y="1169044"/>
                  </a:cubicBezTo>
                  <a:cubicBezTo>
                    <a:pt x="5916" y="1158513"/>
                    <a:pt x="0" y="1144230"/>
                    <a:pt x="0" y="1129338"/>
                  </a:cubicBezTo>
                  <a:lnTo>
                    <a:pt x="0" y="56153"/>
                  </a:lnTo>
                  <a:cubicBezTo>
                    <a:pt x="0" y="41260"/>
                    <a:pt x="5916" y="26977"/>
                    <a:pt x="16447" y="16447"/>
                  </a:cubicBezTo>
                  <a:cubicBezTo>
                    <a:pt x="26977" y="5916"/>
                    <a:pt x="41260" y="0"/>
                    <a:pt x="56153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778842" cy="1242640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034075" y="5914194"/>
            <a:ext cx="2280539" cy="39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8"/>
              </a:lnSpc>
              <a:spcBef>
                <a:spcPct val="0"/>
              </a:spcBef>
            </a:pPr>
            <a:r>
              <a:rPr lang="en-US" b="true" sz="245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214178" y="6507979"/>
            <a:ext cx="3917501" cy="209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66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Diseñar e implementar una plataforma móvil integrada con un backend centralizado que permita administrar reservas, clientes, atenciones, pagos y reportes mediante una arquitectura escalable y segura.</a:t>
            </a:r>
          </a:p>
          <a:p>
            <a:pPr algn="ctr">
              <a:lnSpc>
                <a:spcPts val="2415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8628848" y="6073752"/>
            <a:ext cx="2187980" cy="28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6"/>
              </a:lnSpc>
              <a:spcBef>
                <a:spcPct val="0"/>
              </a:spcBef>
            </a:pPr>
            <a:r>
              <a:rPr lang="en-US" b="true" sz="1804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 1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2815306" y="0"/>
            <a:ext cx="5472694" cy="1370830"/>
          </a:xfrm>
          <a:custGeom>
            <a:avLst/>
            <a:gdLst/>
            <a:ahLst/>
            <a:cxnLst/>
            <a:rect r="r" b="b" t="t" l="l"/>
            <a:pathLst>
              <a:path h="1370830" w="5472694">
                <a:moveTo>
                  <a:pt x="0" y="0"/>
                </a:moveTo>
                <a:lnTo>
                  <a:pt x="5472694" y="0"/>
                </a:lnTo>
                <a:lnTo>
                  <a:pt x="5472694" y="1370830"/>
                </a:lnTo>
                <a:lnTo>
                  <a:pt x="0" y="1370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8406562" y="8024098"/>
            <a:ext cx="2635269" cy="1969809"/>
            <a:chOff x="0" y="0"/>
            <a:chExt cx="1319917" cy="9866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19917" cy="986611"/>
            </a:xfrm>
            <a:custGeom>
              <a:avLst/>
              <a:gdLst/>
              <a:ahLst/>
              <a:cxnLst/>
              <a:rect r="r" b="b" t="t" l="l"/>
              <a:pathLst>
                <a:path h="986611" w="1319917">
                  <a:moveTo>
                    <a:pt x="102823" y="0"/>
                  </a:moveTo>
                  <a:lnTo>
                    <a:pt x="1217094" y="0"/>
                  </a:lnTo>
                  <a:cubicBezTo>
                    <a:pt x="1273882" y="0"/>
                    <a:pt x="1319917" y="46036"/>
                    <a:pt x="1319917" y="102823"/>
                  </a:cubicBezTo>
                  <a:lnTo>
                    <a:pt x="1319917" y="883788"/>
                  </a:lnTo>
                  <a:cubicBezTo>
                    <a:pt x="1319917" y="940575"/>
                    <a:pt x="1273882" y="986611"/>
                    <a:pt x="1217094" y="986611"/>
                  </a:cubicBezTo>
                  <a:lnTo>
                    <a:pt x="102823" y="986611"/>
                  </a:lnTo>
                  <a:cubicBezTo>
                    <a:pt x="46036" y="986611"/>
                    <a:pt x="0" y="940575"/>
                    <a:pt x="0" y="883788"/>
                  </a:cubicBezTo>
                  <a:lnTo>
                    <a:pt x="0" y="102823"/>
                  </a:lnTo>
                  <a:cubicBezTo>
                    <a:pt x="0" y="46036"/>
                    <a:pt x="46036" y="0"/>
                    <a:pt x="102823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319917" cy="1043761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348759" y="8024098"/>
            <a:ext cx="2635269" cy="1969809"/>
            <a:chOff x="0" y="0"/>
            <a:chExt cx="1319917" cy="9866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19917" cy="986611"/>
            </a:xfrm>
            <a:custGeom>
              <a:avLst/>
              <a:gdLst/>
              <a:ahLst/>
              <a:cxnLst/>
              <a:rect r="r" b="b" t="t" l="l"/>
              <a:pathLst>
                <a:path h="986611" w="1319917">
                  <a:moveTo>
                    <a:pt x="102823" y="0"/>
                  </a:moveTo>
                  <a:lnTo>
                    <a:pt x="1217094" y="0"/>
                  </a:lnTo>
                  <a:cubicBezTo>
                    <a:pt x="1273882" y="0"/>
                    <a:pt x="1319917" y="46036"/>
                    <a:pt x="1319917" y="102823"/>
                  </a:cubicBezTo>
                  <a:lnTo>
                    <a:pt x="1319917" y="883788"/>
                  </a:lnTo>
                  <a:cubicBezTo>
                    <a:pt x="1319917" y="940575"/>
                    <a:pt x="1273882" y="986611"/>
                    <a:pt x="1217094" y="986611"/>
                  </a:cubicBezTo>
                  <a:lnTo>
                    <a:pt x="102823" y="986611"/>
                  </a:lnTo>
                  <a:cubicBezTo>
                    <a:pt x="46036" y="986611"/>
                    <a:pt x="0" y="940575"/>
                    <a:pt x="0" y="883788"/>
                  </a:cubicBezTo>
                  <a:lnTo>
                    <a:pt x="0" y="102823"/>
                  </a:lnTo>
                  <a:cubicBezTo>
                    <a:pt x="0" y="46036"/>
                    <a:pt x="46036" y="0"/>
                    <a:pt x="102823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319917" cy="1043761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290956" y="8024098"/>
            <a:ext cx="2635269" cy="1969809"/>
            <a:chOff x="0" y="0"/>
            <a:chExt cx="1319917" cy="9866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19917" cy="986611"/>
            </a:xfrm>
            <a:custGeom>
              <a:avLst/>
              <a:gdLst/>
              <a:ahLst/>
              <a:cxnLst/>
              <a:rect r="r" b="b" t="t" l="l"/>
              <a:pathLst>
                <a:path h="986611" w="1319917">
                  <a:moveTo>
                    <a:pt x="102823" y="0"/>
                  </a:moveTo>
                  <a:lnTo>
                    <a:pt x="1217094" y="0"/>
                  </a:lnTo>
                  <a:cubicBezTo>
                    <a:pt x="1273882" y="0"/>
                    <a:pt x="1319917" y="46036"/>
                    <a:pt x="1319917" y="102823"/>
                  </a:cubicBezTo>
                  <a:lnTo>
                    <a:pt x="1319917" y="883788"/>
                  </a:lnTo>
                  <a:cubicBezTo>
                    <a:pt x="1319917" y="940575"/>
                    <a:pt x="1273882" y="986611"/>
                    <a:pt x="1217094" y="986611"/>
                  </a:cubicBezTo>
                  <a:lnTo>
                    <a:pt x="102823" y="986611"/>
                  </a:lnTo>
                  <a:cubicBezTo>
                    <a:pt x="46036" y="986611"/>
                    <a:pt x="0" y="940575"/>
                    <a:pt x="0" y="883788"/>
                  </a:cubicBezTo>
                  <a:lnTo>
                    <a:pt x="0" y="102823"/>
                  </a:lnTo>
                  <a:cubicBezTo>
                    <a:pt x="0" y="46036"/>
                    <a:pt x="46036" y="0"/>
                    <a:pt x="102823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319917" cy="1043761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43643" y="7644903"/>
            <a:ext cx="758389" cy="758389"/>
            <a:chOff x="0" y="0"/>
            <a:chExt cx="697636" cy="6976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288558" y="7644903"/>
            <a:ext cx="758389" cy="758389"/>
            <a:chOff x="0" y="0"/>
            <a:chExt cx="697636" cy="6976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1572404" y="8575155"/>
            <a:ext cx="2187980" cy="28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6"/>
              </a:lnSpc>
              <a:spcBef>
                <a:spcPct val="0"/>
              </a:spcBef>
            </a:pPr>
            <a:r>
              <a:rPr lang="en-US" b="true" sz="1804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 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559721" y="8980427"/>
            <a:ext cx="2328951" cy="96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365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Incorporar autenticación segura mediante BCrypt y control de acceso por roles.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572404" y="8990538"/>
            <a:ext cx="2187980" cy="65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22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Integrar servicios externos de geolocalización y pronóstico climático.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514600" y="8575155"/>
            <a:ext cx="2187980" cy="28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6"/>
              </a:lnSpc>
              <a:spcBef>
                <a:spcPct val="0"/>
              </a:spcBef>
            </a:pPr>
            <a:r>
              <a:rPr lang="en-US" b="true" sz="1804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 6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449009" y="8990538"/>
            <a:ext cx="2253570" cy="65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22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Generar reportes y métricas para apoyar la toma de decisiones.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378189" y="7826179"/>
            <a:ext cx="689297" cy="36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242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323104" y="7826179"/>
            <a:ext cx="689297" cy="36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242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05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5233472" y="7644903"/>
            <a:ext cx="758389" cy="758389"/>
            <a:chOff x="0" y="0"/>
            <a:chExt cx="697636" cy="6976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34733" lIns="34733" bIns="34733" rIns="34733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5268019" y="7826179"/>
            <a:ext cx="689297" cy="36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242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628848" y="8575155"/>
            <a:ext cx="2187980" cy="28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6"/>
              </a:lnSpc>
              <a:spcBef>
                <a:spcPct val="0"/>
              </a:spcBef>
            </a:pPr>
            <a:r>
              <a:rPr lang="en-US" b="true" sz="1804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OBJETIVO 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939317" y="-3888299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6" y="0"/>
                </a:lnTo>
                <a:lnTo>
                  <a:pt x="12508396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653613" y="2076268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7" y="0"/>
                </a:lnTo>
                <a:lnTo>
                  <a:pt x="12508397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3851" y="1478279"/>
            <a:ext cx="1700297" cy="1088190"/>
          </a:xfrm>
          <a:custGeom>
            <a:avLst/>
            <a:gdLst/>
            <a:ahLst/>
            <a:cxnLst/>
            <a:rect r="r" b="b" t="t" l="l"/>
            <a:pathLst>
              <a:path h="1088190" w="1700297">
                <a:moveTo>
                  <a:pt x="0" y="0"/>
                </a:moveTo>
                <a:lnTo>
                  <a:pt x="1700298" y="0"/>
                </a:lnTo>
                <a:lnTo>
                  <a:pt x="1700298" y="1088190"/>
                </a:lnTo>
                <a:lnTo>
                  <a:pt x="0" y="1088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253272" y="7834512"/>
            <a:ext cx="18794543" cy="2681994"/>
            <a:chOff x="0" y="0"/>
            <a:chExt cx="2911767" cy="415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11767" cy="415511"/>
            </a:xfrm>
            <a:custGeom>
              <a:avLst/>
              <a:gdLst/>
              <a:ahLst/>
              <a:cxnLst/>
              <a:rect r="r" b="b" t="t" l="l"/>
              <a:pathLst>
                <a:path h="415511" w="2911767">
                  <a:moveTo>
                    <a:pt x="0" y="0"/>
                  </a:moveTo>
                  <a:lnTo>
                    <a:pt x="2911767" y="0"/>
                  </a:lnTo>
                  <a:lnTo>
                    <a:pt x="2911767" y="415511"/>
                  </a:lnTo>
                  <a:lnTo>
                    <a:pt x="0" y="415511"/>
                  </a:lnTo>
                  <a:close/>
                </a:path>
              </a:pathLst>
            </a:custGeom>
            <a:solidFill>
              <a:srgbClr val="2D32A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73469" y="2988381"/>
            <a:ext cx="10941062" cy="98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4"/>
              </a:lnSpc>
            </a:pPr>
            <a:r>
              <a:rPr lang="en-US" sz="6003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ALCANCES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55359" y="4286189"/>
            <a:ext cx="12777282" cy="293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8"/>
              </a:lnSpc>
            </a:pPr>
            <a:r>
              <a:rPr lang="en-US" sz="2605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2605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sistema permite gestionar el flujo completo de atención para profesionales independientes y pequeñas empresas, incluyendo autenticación de usuarios, administración de perfiles profesionales, catálogo de servicios, reservas, agenda, atención de clientes, generación de cobros, reportes, estadísticas y panel administrativo. Además, integra servicios externos como Google Maps y OpenWeather para complementar la experiencia del usuario.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53272" y="7834512"/>
            <a:ext cx="18794543" cy="2681994"/>
          </a:xfrm>
          <a:custGeom>
            <a:avLst/>
            <a:gdLst/>
            <a:ahLst/>
            <a:cxnLst/>
            <a:rect r="r" b="b" t="t" l="l"/>
            <a:pathLst>
              <a:path h="2681994" w="18794543">
                <a:moveTo>
                  <a:pt x="0" y="0"/>
                </a:moveTo>
                <a:lnTo>
                  <a:pt x="18794544" y="0"/>
                </a:lnTo>
                <a:lnTo>
                  <a:pt x="18794544" y="2681994"/>
                </a:lnTo>
                <a:lnTo>
                  <a:pt x="0" y="26819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 l="0" t="-393977" r="0" b="-3159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15306" y="0"/>
            <a:ext cx="5472694" cy="1370830"/>
          </a:xfrm>
          <a:custGeom>
            <a:avLst/>
            <a:gdLst/>
            <a:ahLst/>
            <a:cxnLst/>
            <a:rect r="r" b="b" t="t" l="l"/>
            <a:pathLst>
              <a:path h="1370830" w="5472694">
                <a:moveTo>
                  <a:pt x="0" y="0"/>
                </a:moveTo>
                <a:lnTo>
                  <a:pt x="5472694" y="0"/>
                </a:lnTo>
                <a:lnTo>
                  <a:pt x="5472694" y="1370830"/>
                </a:lnTo>
                <a:lnTo>
                  <a:pt x="0" y="1370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5131" y="3339836"/>
            <a:ext cx="3521798" cy="4633666"/>
            <a:chOff x="0" y="0"/>
            <a:chExt cx="1319917" cy="1736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9917" cy="1736629"/>
            </a:xfrm>
            <a:custGeom>
              <a:avLst/>
              <a:gdLst/>
              <a:ahLst/>
              <a:cxnLst/>
              <a:rect r="r" b="b" t="t" l="l"/>
              <a:pathLst>
                <a:path h="1736629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659689"/>
                  </a:lnTo>
                  <a:cubicBezTo>
                    <a:pt x="1319917" y="1702182"/>
                    <a:pt x="1285470" y="1736629"/>
                    <a:pt x="1242977" y="1736629"/>
                  </a:cubicBezTo>
                  <a:lnTo>
                    <a:pt x="76940" y="1736629"/>
                  </a:lnTo>
                  <a:cubicBezTo>
                    <a:pt x="34447" y="1736629"/>
                    <a:pt x="0" y="1702182"/>
                    <a:pt x="0" y="1659689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19917" cy="179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17111" y="3339836"/>
            <a:ext cx="3521798" cy="4633666"/>
            <a:chOff x="0" y="0"/>
            <a:chExt cx="1319917" cy="17366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9917" cy="1736629"/>
            </a:xfrm>
            <a:custGeom>
              <a:avLst/>
              <a:gdLst/>
              <a:ahLst/>
              <a:cxnLst/>
              <a:rect r="r" b="b" t="t" l="l"/>
              <a:pathLst>
                <a:path h="1736629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659689"/>
                  </a:lnTo>
                  <a:cubicBezTo>
                    <a:pt x="1319917" y="1702182"/>
                    <a:pt x="1285470" y="1736629"/>
                    <a:pt x="1242977" y="1736629"/>
                  </a:cubicBezTo>
                  <a:lnTo>
                    <a:pt x="76940" y="1736629"/>
                  </a:lnTo>
                  <a:cubicBezTo>
                    <a:pt x="34447" y="1736629"/>
                    <a:pt x="0" y="1702182"/>
                    <a:pt x="0" y="1659689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19917" cy="179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49091" y="3339836"/>
            <a:ext cx="3521798" cy="4633666"/>
            <a:chOff x="0" y="0"/>
            <a:chExt cx="1319917" cy="17366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9917" cy="1736629"/>
            </a:xfrm>
            <a:custGeom>
              <a:avLst/>
              <a:gdLst/>
              <a:ahLst/>
              <a:cxnLst/>
              <a:rect r="r" b="b" t="t" l="l"/>
              <a:pathLst>
                <a:path h="1736629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659689"/>
                  </a:lnTo>
                  <a:cubicBezTo>
                    <a:pt x="1319917" y="1702182"/>
                    <a:pt x="1285470" y="1736629"/>
                    <a:pt x="1242977" y="1736629"/>
                  </a:cubicBezTo>
                  <a:lnTo>
                    <a:pt x="76940" y="1736629"/>
                  </a:lnTo>
                  <a:cubicBezTo>
                    <a:pt x="34447" y="1736629"/>
                    <a:pt x="0" y="1702182"/>
                    <a:pt x="0" y="1659689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19917" cy="179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81071" y="3339836"/>
            <a:ext cx="3521798" cy="4633666"/>
            <a:chOff x="0" y="0"/>
            <a:chExt cx="1319917" cy="17366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9917" cy="1736629"/>
            </a:xfrm>
            <a:custGeom>
              <a:avLst/>
              <a:gdLst/>
              <a:ahLst/>
              <a:cxnLst/>
              <a:rect r="r" b="b" t="t" l="l"/>
              <a:pathLst>
                <a:path h="1736629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659689"/>
                  </a:lnTo>
                  <a:cubicBezTo>
                    <a:pt x="1319917" y="1702182"/>
                    <a:pt x="1285470" y="1736629"/>
                    <a:pt x="1242977" y="1736629"/>
                  </a:cubicBezTo>
                  <a:lnTo>
                    <a:pt x="76940" y="1736629"/>
                  </a:lnTo>
                  <a:cubicBezTo>
                    <a:pt x="34447" y="1736629"/>
                    <a:pt x="0" y="1702182"/>
                    <a:pt x="0" y="1659689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19917" cy="179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37454" y="2833077"/>
            <a:ext cx="1013519" cy="1013519"/>
            <a:chOff x="0" y="0"/>
            <a:chExt cx="697636" cy="6976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73067" y="2833077"/>
            <a:ext cx="1013519" cy="1013519"/>
            <a:chOff x="0" y="0"/>
            <a:chExt cx="697636" cy="6976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4011" y="4073158"/>
            <a:ext cx="2924037" cy="77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ENFOQUE ITERATIVO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15991" y="4073158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FLEXIBILIDAD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7958" y="5071224"/>
            <a:ext cx="2552511" cy="205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38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Se trabajó mediante sprints cada 2 semanas, permitiendo construir funcionalidades incrementales y validar avances de manera continua.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01230" y="5071224"/>
            <a:ext cx="2552511" cy="234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38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La planificación permitió adaptar la arquitectura conforme crecían los requerimientos, migrando desde una solución local hacia una arquitectura cliente-servidor.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47972" y="4073158"/>
            <a:ext cx="2924037" cy="77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TRABAJO COLABORATIVO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33734" y="5071224"/>
            <a:ext cx="2552511" cy="175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38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Cada integrante asumió un rol principal, colaborando además en pruebas, revisión de código y validación funcional.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79952" y="4073158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CONTROL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74795" y="5071224"/>
            <a:ext cx="2552511" cy="175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38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GitHub permitió mantener trazabilidad completa mediante ramas, commits y revisión continua del avance.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6621" y="962025"/>
            <a:ext cx="10874758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METODOLOGÍA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83622" y="308494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19235" y="308494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608679" y="2833077"/>
            <a:ext cx="1013519" cy="1013519"/>
            <a:chOff x="0" y="0"/>
            <a:chExt cx="697636" cy="6976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44291" y="2833077"/>
            <a:ext cx="1013519" cy="1013519"/>
            <a:chOff x="0" y="0"/>
            <a:chExt cx="697636" cy="6976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54847" y="308494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90459" y="308494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04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01743" y="-4604658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7" y="0"/>
                </a:lnTo>
                <a:lnTo>
                  <a:pt x="12508397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63685" y="6905069"/>
            <a:ext cx="21482964" cy="4401388"/>
          </a:xfrm>
          <a:custGeom>
            <a:avLst/>
            <a:gdLst/>
            <a:ahLst/>
            <a:cxnLst/>
            <a:rect r="r" b="b" t="t" l="l"/>
            <a:pathLst>
              <a:path h="4401388" w="21482964">
                <a:moveTo>
                  <a:pt x="0" y="0"/>
                </a:moveTo>
                <a:lnTo>
                  <a:pt x="21482963" y="0"/>
                </a:lnTo>
                <a:lnTo>
                  <a:pt x="21482963" y="4401388"/>
                </a:lnTo>
                <a:lnTo>
                  <a:pt x="0" y="4401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42" r="0" b="-684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783080"/>
            <a:ext cx="18288000" cy="8503920"/>
          </a:xfrm>
          <a:custGeom>
            <a:avLst/>
            <a:gdLst/>
            <a:ahLst/>
            <a:cxnLst/>
            <a:rect r="r" b="b" t="t" l="l"/>
            <a:pathLst>
              <a:path h="8503920" w="18288000">
                <a:moveTo>
                  <a:pt x="0" y="0"/>
                </a:moveTo>
                <a:lnTo>
                  <a:pt x="18288000" y="0"/>
                </a:lnTo>
                <a:lnTo>
                  <a:pt x="18288000" y="8503920"/>
                </a:lnTo>
                <a:lnTo>
                  <a:pt x="0" y="8503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68465" y="1174794"/>
            <a:ext cx="5951071" cy="51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6"/>
              </a:lnSpc>
              <a:spcBef>
                <a:spcPct val="0"/>
              </a:spcBef>
            </a:pPr>
            <a:r>
              <a:rPr lang="en-US" b="true" sz="3220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VISTA FISICA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82506" y="180384"/>
            <a:ext cx="10190581" cy="84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64"/>
              </a:lnSpc>
              <a:spcBef>
                <a:spcPct val="0"/>
              </a:spcBef>
            </a:pPr>
            <a:r>
              <a:rPr lang="en-US" b="true" sz="5203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ARQUITECTURA DE SOFTWARE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01743" y="-4604658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7" y="0"/>
                </a:lnTo>
                <a:lnTo>
                  <a:pt x="12508397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63685" y="6905069"/>
            <a:ext cx="21482964" cy="4401388"/>
          </a:xfrm>
          <a:custGeom>
            <a:avLst/>
            <a:gdLst/>
            <a:ahLst/>
            <a:cxnLst/>
            <a:rect r="r" b="b" t="t" l="l"/>
            <a:pathLst>
              <a:path h="4401388" w="21482964">
                <a:moveTo>
                  <a:pt x="0" y="0"/>
                </a:moveTo>
                <a:lnTo>
                  <a:pt x="21482963" y="0"/>
                </a:lnTo>
                <a:lnTo>
                  <a:pt x="21482963" y="4401388"/>
                </a:lnTo>
                <a:lnTo>
                  <a:pt x="0" y="4401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42" r="0" b="-684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6951" y="3105560"/>
            <a:ext cx="5401554" cy="4621847"/>
          </a:xfrm>
          <a:custGeom>
            <a:avLst/>
            <a:gdLst/>
            <a:ahLst/>
            <a:cxnLst/>
            <a:rect r="r" b="b" t="t" l="l"/>
            <a:pathLst>
              <a:path h="4621847" w="5401554">
                <a:moveTo>
                  <a:pt x="0" y="0"/>
                </a:moveTo>
                <a:lnTo>
                  <a:pt x="5401554" y="0"/>
                </a:lnTo>
                <a:lnTo>
                  <a:pt x="5401554" y="4621847"/>
                </a:lnTo>
                <a:lnTo>
                  <a:pt x="0" y="4621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653" t="-27790" r="-4069" b="-25655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6945" y="3105560"/>
            <a:ext cx="5165889" cy="5484656"/>
          </a:xfrm>
          <a:custGeom>
            <a:avLst/>
            <a:gdLst/>
            <a:ahLst/>
            <a:cxnLst/>
            <a:rect r="r" b="b" t="t" l="l"/>
            <a:pathLst>
              <a:path h="5484656" w="5165889">
                <a:moveTo>
                  <a:pt x="0" y="0"/>
                </a:moveTo>
                <a:lnTo>
                  <a:pt x="5165889" y="0"/>
                </a:lnTo>
                <a:lnTo>
                  <a:pt x="5165889" y="5484656"/>
                </a:lnTo>
                <a:lnTo>
                  <a:pt x="0" y="5484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342" t="-208843" r="-3759" b="-180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80866" y="2473828"/>
            <a:ext cx="6322254" cy="6784472"/>
          </a:xfrm>
          <a:custGeom>
            <a:avLst/>
            <a:gdLst/>
            <a:ahLst/>
            <a:cxnLst/>
            <a:rect r="r" b="b" t="t" l="l"/>
            <a:pathLst>
              <a:path h="6784472" w="6322254">
                <a:moveTo>
                  <a:pt x="0" y="0"/>
                </a:moveTo>
                <a:lnTo>
                  <a:pt x="6322254" y="0"/>
                </a:lnTo>
                <a:lnTo>
                  <a:pt x="6322254" y="6784472"/>
                </a:lnTo>
                <a:lnTo>
                  <a:pt x="0" y="67844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51" t="-103561" r="-3606" b="-10250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68465" y="1174794"/>
            <a:ext cx="5951071" cy="51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6"/>
              </a:lnSpc>
              <a:spcBef>
                <a:spcPct val="0"/>
              </a:spcBef>
            </a:pPr>
            <a:r>
              <a:rPr lang="en-US" b="true" sz="3220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CASOS DE USO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82506" y="180384"/>
            <a:ext cx="10190581" cy="84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64"/>
              </a:lnSpc>
              <a:spcBef>
                <a:spcPct val="0"/>
              </a:spcBef>
            </a:pPr>
            <a:r>
              <a:rPr lang="en-US" b="true" sz="5203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ARQUITECTURA DE SOFTWARE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01743" y="-4604658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7" y="0"/>
                </a:lnTo>
                <a:lnTo>
                  <a:pt x="12508397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97482" y="6203680"/>
            <a:ext cx="21482964" cy="4401388"/>
          </a:xfrm>
          <a:custGeom>
            <a:avLst/>
            <a:gdLst/>
            <a:ahLst/>
            <a:cxnLst/>
            <a:rect r="r" b="b" t="t" l="l"/>
            <a:pathLst>
              <a:path h="4401388" w="21482964">
                <a:moveTo>
                  <a:pt x="0" y="0"/>
                </a:moveTo>
                <a:lnTo>
                  <a:pt x="21482964" y="0"/>
                </a:lnTo>
                <a:lnTo>
                  <a:pt x="21482964" y="4401387"/>
                </a:lnTo>
                <a:lnTo>
                  <a:pt x="0" y="4401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42" r="0" b="-684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39893" y="1877016"/>
            <a:ext cx="14808214" cy="8083781"/>
          </a:xfrm>
          <a:custGeom>
            <a:avLst/>
            <a:gdLst/>
            <a:ahLst/>
            <a:cxnLst/>
            <a:rect r="r" b="b" t="t" l="l"/>
            <a:pathLst>
              <a:path h="8083781" w="14808214">
                <a:moveTo>
                  <a:pt x="0" y="0"/>
                </a:moveTo>
                <a:lnTo>
                  <a:pt x="14808214" y="0"/>
                </a:lnTo>
                <a:lnTo>
                  <a:pt x="14808214" y="8083781"/>
                </a:lnTo>
                <a:lnTo>
                  <a:pt x="0" y="80837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49194" y="971550"/>
            <a:ext cx="6389612" cy="84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64"/>
              </a:lnSpc>
              <a:spcBef>
                <a:spcPct val="0"/>
              </a:spcBef>
            </a:pPr>
            <a:r>
              <a:rPr lang="en-US" b="true" sz="5203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MODELO DE DATOS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5131" y="3080047"/>
            <a:ext cx="3521798" cy="4633666"/>
            <a:chOff x="0" y="0"/>
            <a:chExt cx="1319917" cy="1736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9917" cy="1736629"/>
            </a:xfrm>
            <a:custGeom>
              <a:avLst/>
              <a:gdLst/>
              <a:ahLst/>
              <a:cxnLst/>
              <a:rect r="r" b="b" t="t" l="l"/>
              <a:pathLst>
                <a:path h="1736629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659689"/>
                  </a:lnTo>
                  <a:cubicBezTo>
                    <a:pt x="1319917" y="1702182"/>
                    <a:pt x="1285470" y="1736629"/>
                    <a:pt x="1242977" y="1736629"/>
                  </a:cubicBezTo>
                  <a:lnTo>
                    <a:pt x="76940" y="1736629"/>
                  </a:lnTo>
                  <a:cubicBezTo>
                    <a:pt x="34447" y="1736629"/>
                    <a:pt x="0" y="1702182"/>
                    <a:pt x="0" y="1659689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19917" cy="179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17111" y="3080047"/>
            <a:ext cx="3521798" cy="4633666"/>
            <a:chOff x="0" y="0"/>
            <a:chExt cx="1319917" cy="17366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9917" cy="1736629"/>
            </a:xfrm>
            <a:custGeom>
              <a:avLst/>
              <a:gdLst/>
              <a:ahLst/>
              <a:cxnLst/>
              <a:rect r="r" b="b" t="t" l="l"/>
              <a:pathLst>
                <a:path h="1736629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659689"/>
                  </a:lnTo>
                  <a:cubicBezTo>
                    <a:pt x="1319917" y="1702182"/>
                    <a:pt x="1285470" y="1736629"/>
                    <a:pt x="1242977" y="1736629"/>
                  </a:cubicBezTo>
                  <a:lnTo>
                    <a:pt x="76940" y="1736629"/>
                  </a:lnTo>
                  <a:cubicBezTo>
                    <a:pt x="34447" y="1736629"/>
                    <a:pt x="0" y="1702182"/>
                    <a:pt x="0" y="1659689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19917" cy="179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49091" y="3080047"/>
            <a:ext cx="3521798" cy="4633666"/>
            <a:chOff x="0" y="0"/>
            <a:chExt cx="1319917" cy="17366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9917" cy="1736629"/>
            </a:xfrm>
            <a:custGeom>
              <a:avLst/>
              <a:gdLst/>
              <a:ahLst/>
              <a:cxnLst/>
              <a:rect r="r" b="b" t="t" l="l"/>
              <a:pathLst>
                <a:path h="1736629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659689"/>
                  </a:lnTo>
                  <a:cubicBezTo>
                    <a:pt x="1319917" y="1702182"/>
                    <a:pt x="1285470" y="1736629"/>
                    <a:pt x="1242977" y="1736629"/>
                  </a:cubicBezTo>
                  <a:lnTo>
                    <a:pt x="76940" y="1736629"/>
                  </a:lnTo>
                  <a:cubicBezTo>
                    <a:pt x="34447" y="1736629"/>
                    <a:pt x="0" y="1702182"/>
                    <a:pt x="0" y="1659689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19917" cy="179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81071" y="3080047"/>
            <a:ext cx="3521798" cy="4633666"/>
            <a:chOff x="0" y="0"/>
            <a:chExt cx="1319917" cy="17366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9917" cy="1736629"/>
            </a:xfrm>
            <a:custGeom>
              <a:avLst/>
              <a:gdLst/>
              <a:ahLst/>
              <a:cxnLst/>
              <a:rect r="r" b="b" t="t" l="l"/>
              <a:pathLst>
                <a:path h="1736629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659689"/>
                  </a:lnTo>
                  <a:cubicBezTo>
                    <a:pt x="1319917" y="1702182"/>
                    <a:pt x="1285470" y="1736629"/>
                    <a:pt x="1242977" y="1736629"/>
                  </a:cubicBezTo>
                  <a:lnTo>
                    <a:pt x="76940" y="1736629"/>
                  </a:lnTo>
                  <a:cubicBezTo>
                    <a:pt x="34447" y="1736629"/>
                    <a:pt x="0" y="1702182"/>
                    <a:pt x="0" y="1659689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19917" cy="179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37454" y="2573287"/>
            <a:ext cx="1013519" cy="1013519"/>
            <a:chOff x="0" y="0"/>
            <a:chExt cx="697636" cy="6976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73067" y="2573287"/>
            <a:ext cx="1013519" cy="1013519"/>
            <a:chOff x="0" y="0"/>
            <a:chExt cx="697636" cy="6976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4011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FRONTEND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15991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BACKEND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84011" y="4782859"/>
            <a:ext cx="2924037" cy="201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</a:pPr>
            <a:r>
              <a:rPr lang="en-US" sz="1877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Kotlin</a:t>
            </a:r>
          </a:p>
          <a:p>
            <a:pPr algn="ctr">
              <a:lnSpc>
                <a:spcPts val="2721"/>
              </a:lnSpc>
            </a:pPr>
            <a:r>
              <a:rPr lang="en-US" sz="1877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Jetpack Compose</a:t>
            </a:r>
          </a:p>
          <a:p>
            <a:pPr algn="ctr">
              <a:lnSpc>
                <a:spcPts val="2721"/>
              </a:lnSpc>
            </a:pPr>
            <a:r>
              <a:rPr lang="en-US" sz="1877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MVVM</a:t>
            </a:r>
          </a:p>
          <a:p>
            <a:pPr algn="ctr">
              <a:lnSpc>
                <a:spcPts val="2721"/>
              </a:lnSpc>
            </a:pPr>
            <a:r>
              <a:rPr lang="en-US" sz="1877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Retrofit</a:t>
            </a:r>
          </a:p>
          <a:p>
            <a:pPr algn="ctr">
              <a:lnSpc>
                <a:spcPts val="2721"/>
              </a:lnSpc>
            </a:pPr>
            <a:r>
              <a:rPr lang="en-US" sz="1877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Room</a:t>
            </a:r>
          </a:p>
          <a:p>
            <a:pPr algn="ctr">
              <a:lnSpc>
                <a:spcPts val="2721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734022" y="4792384"/>
            <a:ext cx="2887977" cy="164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1854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Spring Boot</a:t>
            </a:r>
          </a:p>
          <a:p>
            <a:pPr algn="ctr">
              <a:lnSpc>
                <a:spcPts val="2688"/>
              </a:lnSpc>
            </a:pPr>
            <a:r>
              <a:rPr lang="en-US" sz="1854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Spring Data JPA</a:t>
            </a:r>
          </a:p>
          <a:p>
            <a:pPr algn="ctr">
              <a:lnSpc>
                <a:spcPts val="2688"/>
              </a:lnSpc>
            </a:pPr>
            <a:r>
              <a:rPr lang="en-US" sz="1854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Hibernate</a:t>
            </a:r>
          </a:p>
          <a:p>
            <a:pPr algn="ctr">
              <a:lnSpc>
                <a:spcPts val="2688"/>
              </a:lnSpc>
            </a:pPr>
            <a:r>
              <a:rPr lang="en-US" sz="1854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MySQL</a:t>
            </a:r>
          </a:p>
          <a:p>
            <a:pPr algn="ctr">
              <a:lnSpc>
                <a:spcPts val="2688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647972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SERVICIOS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84844" y="4792384"/>
            <a:ext cx="2887165" cy="9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85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Google Maps</a:t>
            </a:r>
          </a:p>
          <a:p>
            <a:pPr algn="ctr">
              <a:lnSpc>
                <a:spcPts val="2687"/>
              </a:lnSpc>
            </a:pPr>
            <a:r>
              <a:rPr lang="en-US" sz="1853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OpenWeather API</a:t>
            </a:r>
          </a:p>
          <a:p>
            <a:pPr algn="ctr">
              <a:lnSpc>
                <a:spcPts val="268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579952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HERRAMIENTAS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95951" y="4792384"/>
            <a:ext cx="2892038" cy="232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2"/>
              </a:lnSpc>
            </a:pPr>
            <a:r>
              <a:rPr lang="en-US" sz="185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Git</a:t>
            </a:r>
          </a:p>
          <a:p>
            <a:pPr algn="ctr">
              <a:lnSpc>
                <a:spcPts val="2692"/>
              </a:lnSpc>
            </a:pPr>
            <a:r>
              <a:rPr lang="en-US" sz="185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GitHub</a:t>
            </a:r>
          </a:p>
          <a:p>
            <a:pPr algn="ctr">
              <a:lnSpc>
                <a:spcPts val="2692"/>
              </a:lnSpc>
            </a:pPr>
            <a:r>
              <a:rPr lang="en-US" sz="185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Postman</a:t>
            </a:r>
          </a:p>
          <a:p>
            <a:pPr algn="ctr">
              <a:lnSpc>
                <a:spcPts val="2692"/>
              </a:lnSpc>
            </a:pPr>
            <a:r>
              <a:rPr lang="en-US" sz="185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Figma</a:t>
            </a:r>
          </a:p>
          <a:p>
            <a:pPr algn="ctr">
              <a:lnSpc>
                <a:spcPts val="2692"/>
              </a:lnSpc>
            </a:pPr>
            <a:r>
              <a:rPr lang="en-US" sz="185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Android Studio</a:t>
            </a:r>
          </a:p>
          <a:p>
            <a:pPr algn="ctr">
              <a:lnSpc>
                <a:spcPts val="2692"/>
              </a:lnSpc>
            </a:pPr>
            <a:r>
              <a:rPr lang="en-US" sz="1856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IntelliJ IDEA</a:t>
            </a:r>
          </a:p>
          <a:p>
            <a:pPr algn="ctr">
              <a:lnSpc>
                <a:spcPts val="2692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706621" y="962025"/>
            <a:ext cx="10874758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TECNOLOGÍAS UTILIZADAS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83622" y="282515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19235" y="282515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608679" y="2573287"/>
            <a:ext cx="1013519" cy="1013519"/>
            <a:chOff x="0" y="0"/>
            <a:chExt cx="697636" cy="6976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44291" y="2573287"/>
            <a:ext cx="1013519" cy="1013519"/>
            <a:chOff x="0" y="0"/>
            <a:chExt cx="697636" cy="6976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54847" y="282515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90459" y="282515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04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25730"/>
            <a:ext cx="18288000" cy="10035540"/>
          </a:xfrm>
          <a:custGeom>
            <a:avLst/>
            <a:gdLst/>
            <a:ahLst/>
            <a:cxnLst/>
            <a:rect r="r" b="b" t="t" l="l"/>
            <a:pathLst>
              <a:path h="10035540" w="18288000">
                <a:moveTo>
                  <a:pt x="0" y="0"/>
                </a:moveTo>
                <a:lnTo>
                  <a:pt x="18288000" y="0"/>
                </a:lnTo>
                <a:lnTo>
                  <a:pt x="18288000" y="10035540"/>
                </a:lnTo>
                <a:lnTo>
                  <a:pt x="0" y="10035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5131" y="3080047"/>
            <a:ext cx="3521798" cy="1750438"/>
            <a:chOff x="0" y="0"/>
            <a:chExt cx="1319917" cy="6560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9917" cy="656038"/>
            </a:xfrm>
            <a:custGeom>
              <a:avLst/>
              <a:gdLst/>
              <a:ahLst/>
              <a:cxnLst/>
              <a:rect r="r" b="b" t="t" l="l"/>
              <a:pathLst>
                <a:path h="656038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579098"/>
                  </a:lnTo>
                  <a:cubicBezTo>
                    <a:pt x="1319917" y="621591"/>
                    <a:pt x="1285470" y="656038"/>
                    <a:pt x="1242977" y="656038"/>
                  </a:cubicBezTo>
                  <a:lnTo>
                    <a:pt x="76940" y="656038"/>
                  </a:lnTo>
                  <a:cubicBezTo>
                    <a:pt x="34447" y="656038"/>
                    <a:pt x="0" y="621591"/>
                    <a:pt x="0" y="579098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19917" cy="713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17111" y="3080047"/>
            <a:ext cx="3521798" cy="1750438"/>
            <a:chOff x="0" y="0"/>
            <a:chExt cx="1319917" cy="6560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9917" cy="656038"/>
            </a:xfrm>
            <a:custGeom>
              <a:avLst/>
              <a:gdLst/>
              <a:ahLst/>
              <a:cxnLst/>
              <a:rect r="r" b="b" t="t" l="l"/>
              <a:pathLst>
                <a:path h="656038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579098"/>
                  </a:lnTo>
                  <a:cubicBezTo>
                    <a:pt x="1319917" y="621591"/>
                    <a:pt x="1285470" y="656038"/>
                    <a:pt x="1242977" y="656038"/>
                  </a:cubicBezTo>
                  <a:lnTo>
                    <a:pt x="76940" y="656038"/>
                  </a:lnTo>
                  <a:cubicBezTo>
                    <a:pt x="34447" y="656038"/>
                    <a:pt x="0" y="621591"/>
                    <a:pt x="0" y="579098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19917" cy="713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49091" y="3080047"/>
            <a:ext cx="3521798" cy="1750438"/>
            <a:chOff x="0" y="0"/>
            <a:chExt cx="1319917" cy="6560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9917" cy="656038"/>
            </a:xfrm>
            <a:custGeom>
              <a:avLst/>
              <a:gdLst/>
              <a:ahLst/>
              <a:cxnLst/>
              <a:rect r="r" b="b" t="t" l="l"/>
              <a:pathLst>
                <a:path h="656038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579098"/>
                  </a:lnTo>
                  <a:cubicBezTo>
                    <a:pt x="1319917" y="621591"/>
                    <a:pt x="1285470" y="656038"/>
                    <a:pt x="1242977" y="656038"/>
                  </a:cubicBezTo>
                  <a:lnTo>
                    <a:pt x="76940" y="656038"/>
                  </a:lnTo>
                  <a:cubicBezTo>
                    <a:pt x="34447" y="656038"/>
                    <a:pt x="0" y="621591"/>
                    <a:pt x="0" y="579098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19917" cy="713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81071" y="3080047"/>
            <a:ext cx="3521798" cy="1750438"/>
            <a:chOff x="0" y="0"/>
            <a:chExt cx="1319917" cy="6560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9917" cy="656038"/>
            </a:xfrm>
            <a:custGeom>
              <a:avLst/>
              <a:gdLst/>
              <a:ahLst/>
              <a:cxnLst/>
              <a:rect r="r" b="b" t="t" l="l"/>
              <a:pathLst>
                <a:path h="656038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579098"/>
                  </a:lnTo>
                  <a:cubicBezTo>
                    <a:pt x="1319917" y="621591"/>
                    <a:pt x="1285470" y="656038"/>
                    <a:pt x="1242977" y="656038"/>
                  </a:cubicBezTo>
                  <a:lnTo>
                    <a:pt x="76940" y="656038"/>
                  </a:lnTo>
                  <a:cubicBezTo>
                    <a:pt x="34447" y="656038"/>
                    <a:pt x="0" y="621591"/>
                    <a:pt x="0" y="579098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19917" cy="713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37454" y="2573287"/>
            <a:ext cx="1013519" cy="1013519"/>
            <a:chOff x="0" y="0"/>
            <a:chExt cx="697636" cy="6976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73067" y="2573287"/>
            <a:ext cx="1013519" cy="1013519"/>
            <a:chOff x="0" y="0"/>
            <a:chExt cx="697636" cy="6976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4011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BCRYPT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15991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UUID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47972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ROLES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79952" y="3813369"/>
            <a:ext cx="2924037" cy="77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5"/>
              </a:lnSpc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@TRANSACTIONAL</a:t>
            </a:r>
          </a:p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706621" y="962025"/>
            <a:ext cx="10874758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SEGURIDAD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608679" y="2573287"/>
            <a:ext cx="1013519" cy="1013519"/>
            <a:chOff x="0" y="0"/>
            <a:chExt cx="697636" cy="6976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544291" y="2573287"/>
            <a:ext cx="1013519" cy="1013519"/>
            <a:chOff x="0" y="0"/>
            <a:chExt cx="697636" cy="6976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776455" y="6645302"/>
            <a:ext cx="4735091" cy="2353480"/>
            <a:chOff x="0" y="0"/>
            <a:chExt cx="1319917" cy="6560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19917" cy="656038"/>
            </a:xfrm>
            <a:custGeom>
              <a:avLst/>
              <a:gdLst/>
              <a:ahLst/>
              <a:cxnLst/>
              <a:rect r="r" b="b" t="t" l="l"/>
              <a:pathLst>
                <a:path h="656038" w="1319917">
                  <a:moveTo>
                    <a:pt x="57225" y="0"/>
                  </a:moveTo>
                  <a:lnTo>
                    <a:pt x="1262692" y="0"/>
                  </a:lnTo>
                  <a:cubicBezTo>
                    <a:pt x="1277869" y="0"/>
                    <a:pt x="1292425" y="6029"/>
                    <a:pt x="1303156" y="16761"/>
                  </a:cubicBezTo>
                  <a:cubicBezTo>
                    <a:pt x="1313888" y="27493"/>
                    <a:pt x="1319917" y="42048"/>
                    <a:pt x="1319917" y="57225"/>
                  </a:cubicBezTo>
                  <a:lnTo>
                    <a:pt x="1319917" y="598812"/>
                  </a:lnTo>
                  <a:cubicBezTo>
                    <a:pt x="1319917" y="613990"/>
                    <a:pt x="1313888" y="628545"/>
                    <a:pt x="1303156" y="639277"/>
                  </a:cubicBezTo>
                  <a:cubicBezTo>
                    <a:pt x="1292425" y="650009"/>
                    <a:pt x="1277869" y="656038"/>
                    <a:pt x="1262692" y="656038"/>
                  </a:cubicBezTo>
                  <a:lnTo>
                    <a:pt x="57225" y="656038"/>
                  </a:lnTo>
                  <a:cubicBezTo>
                    <a:pt x="42048" y="656038"/>
                    <a:pt x="27493" y="650009"/>
                    <a:pt x="16761" y="639277"/>
                  </a:cubicBezTo>
                  <a:cubicBezTo>
                    <a:pt x="6029" y="628545"/>
                    <a:pt x="0" y="613990"/>
                    <a:pt x="0" y="598812"/>
                  </a:cubicBezTo>
                  <a:lnTo>
                    <a:pt x="0" y="57225"/>
                  </a:lnTo>
                  <a:cubicBezTo>
                    <a:pt x="0" y="42048"/>
                    <a:pt x="6029" y="27493"/>
                    <a:pt x="16761" y="16761"/>
                  </a:cubicBezTo>
                  <a:cubicBezTo>
                    <a:pt x="27493" y="6029"/>
                    <a:pt x="42048" y="0"/>
                    <a:pt x="57225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319917" cy="713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465099" y="5963959"/>
            <a:ext cx="1362685" cy="1362685"/>
            <a:chOff x="0" y="0"/>
            <a:chExt cx="697636" cy="6976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178302" y="7631580"/>
            <a:ext cx="3931395" cy="104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6"/>
              </a:lnSpc>
            </a:pPr>
            <a:r>
              <a:rPr lang="en-US" b="true" sz="3243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ISO 27001</a:t>
            </a:r>
          </a:p>
          <a:p>
            <a:pPr algn="ctr" marL="0" indent="0" lvl="0">
              <a:lnSpc>
                <a:spcPts val="42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5131" y="3080047"/>
            <a:ext cx="3521798" cy="3054944"/>
            <a:chOff x="0" y="0"/>
            <a:chExt cx="1319917" cy="11449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9917" cy="1144947"/>
            </a:xfrm>
            <a:custGeom>
              <a:avLst/>
              <a:gdLst/>
              <a:ahLst/>
              <a:cxnLst/>
              <a:rect r="r" b="b" t="t" l="l"/>
              <a:pathLst>
                <a:path h="1144947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068007"/>
                  </a:lnTo>
                  <a:cubicBezTo>
                    <a:pt x="1319917" y="1110500"/>
                    <a:pt x="1285470" y="1144947"/>
                    <a:pt x="1242977" y="1144947"/>
                  </a:cubicBezTo>
                  <a:lnTo>
                    <a:pt x="76940" y="1144947"/>
                  </a:lnTo>
                  <a:cubicBezTo>
                    <a:pt x="34447" y="1144947"/>
                    <a:pt x="0" y="1110500"/>
                    <a:pt x="0" y="1068007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19917" cy="120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17111" y="3080047"/>
            <a:ext cx="3521798" cy="3054944"/>
            <a:chOff x="0" y="0"/>
            <a:chExt cx="1319917" cy="11449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9917" cy="1144947"/>
            </a:xfrm>
            <a:custGeom>
              <a:avLst/>
              <a:gdLst/>
              <a:ahLst/>
              <a:cxnLst/>
              <a:rect r="r" b="b" t="t" l="l"/>
              <a:pathLst>
                <a:path h="1144947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068007"/>
                  </a:lnTo>
                  <a:cubicBezTo>
                    <a:pt x="1319917" y="1110500"/>
                    <a:pt x="1285470" y="1144947"/>
                    <a:pt x="1242977" y="1144947"/>
                  </a:cubicBezTo>
                  <a:lnTo>
                    <a:pt x="76940" y="1144947"/>
                  </a:lnTo>
                  <a:cubicBezTo>
                    <a:pt x="34447" y="1144947"/>
                    <a:pt x="0" y="1110500"/>
                    <a:pt x="0" y="1068007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19917" cy="120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49091" y="3080047"/>
            <a:ext cx="3521798" cy="3054944"/>
            <a:chOff x="0" y="0"/>
            <a:chExt cx="1319917" cy="11449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9917" cy="1144947"/>
            </a:xfrm>
            <a:custGeom>
              <a:avLst/>
              <a:gdLst/>
              <a:ahLst/>
              <a:cxnLst/>
              <a:rect r="r" b="b" t="t" l="l"/>
              <a:pathLst>
                <a:path h="1144947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068007"/>
                  </a:lnTo>
                  <a:cubicBezTo>
                    <a:pt x="1319917" y="1110500"/>
                    <a:pt x="1285470" y="1144947"/>
                    <a:pt x="1242977" y="1144947"/>
                  </a:cubicBezTo>
                  <a:lnTo>
                    <a:pt x="76940" y="1144947"/>
                  </a:lnTo>
                  <a:cubicBezTo>
                    <a:pt x="34447" y="1144947"/>
                    <a:pt x="0" y="1110500"/>
                    <a:pt x="0" y="1068007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19917" cy="120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81071" y="3080047"/>
            <a:ext cx="3521798" cy="3894265"/>
            <a:chOff x="0" y="0"/>
            <a:chExt cx="1319917" cy="14595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9917" cy="1459512"/>
            </a:xfrm>
            <a:custGeom>
              <a:avLst/>
              <a:gdLst/>
              <a:ahLst/>
              <a:cxnLst/>
              <a:rect r="r" b="b" t="t" l="l"/>
              <a:pathLst>
                <a:path h="1459512" w="1319917">
                  <a:moveTo>
                    <a:pt x="76940" y="0"/>
                  </a:moveTo>
                  <a:lnTo>
                    <a:pt x="1242977" y="0"/>
                  </a:lnTo>
                  <a:cubicBezTo>
                    <a:pt x="1285470" y="0"/>
                    <a:pt x="1319917" y="34447"/>
                    <a:pt x="1319917" y="76940"/>
                  </a:cubicBezTo>
                  <a:lnTo>
                    <a:pt x="1319917" y="1382572"/>
                  </a:lnTo>
                  <a:cubicBezTo>
                    <a:pt x="1319917" y="1425065"/>
                    <a:pt x="1285470" y="1459512"/>
                    <a:pt x="1242977" y="1459512"/>
                  </a:cubicBezTo>
                  <a:lnTo>
                    <a:pt x="76940" y="1459512"/>
                  </a:lnTo>
                  <a:cubicBezTo>
                    <a:pt x="34447" y="1459512"/>
                    <a:pt x="0" y="1425065"/>
                    <a:pt x="0" y="1382572"/>
                  </a:cubicBezTo>
                  <a:lnTo>
                    <a:pt x="0" y="76940"/>
                  </a:lnTo>
                  <a:cubicBezTo>
                    <a:pt x="0" y="34447"/>
                    <a:pt x="34447" y="0"/>
                    <a:pt x="76940" y="0"/>
                  </a:cubicBezTo>
                  <a:close/>
                </a:path>
              </a:pathLst>
            </a:custGeom>
            <a:solidFill>
              <a:srgbClr val="FDFDFD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19917" cy="1516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37454" y="2573287"/>
            <a:ext cx="1013519" cy="1013519"/>
            <a:chOff x="0" y="0"/>
            <a:chExt cx="697636" cy="6976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73067" y="2573287"/>
            <a:ext cx="1013519" cy="1013519"/>
            <a:chOff x="0" y="0"/>
            <a:chExt cx="697636" cy="6976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4011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RESULTADO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15991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RESULTADO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9774" y="4371695"/>
            <a:ext cx="2552511" cy="87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38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Arquitectura escalable basada en Feature-Based Architecture.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01754" y="4371695"/>
            <a:ext cx="2552511" cy="87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38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Backend centralizado utilizando Spring Boot, JPA/Hibernate y MySQL.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47972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RESULTADO 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33734" y="4371695"/>
            <a:ext cx="2552511" cy="146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38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Aplicación Android desarrollada con Jetpack Compose y patrón MVVM, integrada mediante API REST.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79952" y="3813369"/>
            <a:ext cx="2924037" cy="3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b="true" sz="2412">
                <a:solidFill>
                  <a:srgbClr val="24242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RESULTADO4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65715" y="4371695"/>
            <a:ext cx="2552511" cy="234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38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Sistema seguro con autenticación mediante BCrypt, identificadores UUID, control de acceso por roles (CLIENT, SPECIALIST y ADMIN) y aplicación de controles inspirados en ISO 27001.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6621" y="962025"/>
            <a:ext cx="10874758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RESULTADOS OBTENIDOS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83622" y="282515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19235" y="282515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608679" y="2573287"/>
            <a:ext cx="1013519" cy="1013519"/>
            <a:chOff x="0" y="0"/>
            <a:chExt cx="697636" cy="6976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44291" y="2573287"/>
            <a:ext cx="1013519" cy="1013519"/>
            <a:chOff x="0" y="0"/>
            <a:chExt cx="697636" cy="6976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7636" cy="697636"/>
            </a:xfrm>
            <a:custGeom>
              <a:avLst/>
              <a:gdLst/>
              <a:ahLst/>
              <a:cxnLst/>
              <a:rect r="r" b="b" t="t" l="l"/>
              <a:pathLst>
                <a:path h="697636" w="697636">
                  <a:moveTo>
                    <a:pt x="348818" y="0"/>
                  </a:moveTo>
                  <a:lnTo>
                    <a:pt x="348818" y="0"/>
                  </a:lnTo>
                  <a:cubicBezTo>
                    <a:pt x="441330" y="0"/>
                    <a:pt x="530053" y="36750"/>
                    <a:pt x="595470" y="102166"/>
                  </a:cubicBezTo>
                  <a:cubicBezTo>
                    <a:pt x="660886" y="167582"/>
                    <a:pt x="697636" y="256306"/>
                    <a:pt x="697636" y="348818"/>
                  </a:cubicBezTo>
                  <a:lnTo>
                    <a:pt x="697636" y="348818"/>
                  </a:lnTo>
                  <a:cubicBezTo>
                    <a:pt x="697636" y="541465"/>
                    <a:pt x="541465" y="697636"/>
                    <a:pt x="348818" y="697636"/>
                  </a:cubicBezTo>
                  <a:lnTo>
                    <a:pt x="348818" y="697636"/>
                  </a:lnTo>
                  <a:cubicBezTo>
                    <a:pt x="156171" y="697636"/>
                    <a:pt x="0" y="541465"/>
                    <a:pt x="0" y="348818"/>
                  </a:cubicBezTo>
                  <a:lnTo>
                    <a:pt x="0" y="348818"/>
                  </a:lnTo>
                  <a:cubicBezTo>
                    <a:pt x="0" y="156171"/>
                    <a:pt x="156171" y="0"/>
                    <a:pt x="348818" y="0"/>
                  </a:cubicBezTo>
                  <a:close/>
                </a:path>
              </a:pathLst>
            </a:custGeom>
            <a:solidFill>
              <a:srgbClr val="2D32A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97636" cy="754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54847" y="282515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90459" y="2825159"/>
            <a:ext cx="921183" cy="4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996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04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44152" y="6803027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6" y="0"/>
                </a:lnTo>
                <a:lnTo>
                  <a:pt x="12508396" y="12099030"/>
                </a:lnTo>
                <a:lnTo>
                  <a:pt x="0" y="1209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508374" y="-5327689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6" y="0"/>
                </a:lnTo>
                <a:lnTo>
                  <a:pt x="12508396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97635" y="3259771"/>
            <a:ext cx="661330" cy="610077"/>
          </a:xfrm>
          <a:custGeom>
            <a:avLst/>
            <a:gdLst/>
            <a:ahLst/>
            <a:cxnLst/>
            <a:rect r="r" b="b" t="t" l="l"/>
            <a:pathLst>
              <a:path h="610077" w="661330">
                <a:moveTo>
                  <a:pt x="0" y="0"/>
                </a:moveTo>
                <a:lnTo>
                  <a:pt x="661330" y="0"/>
                </a:lnTo>
                <a:lnTo>
                  <a:pt x="661330" y="610077"/>
                </a:lnTo>
                <a:lnTo>
                  <a:pt x="0" y="61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97635" y="4336573"/>
            <a:ext cx="661330" cy="610077"/>
          </a:xfrm>
          <a:custGeom>
            <a:avLst/>
            <a:gdLst/>
            <a:ahLst/>
            <a:cxnLst/>
            <a:rect r="r" b="b" t="t" l="l"/>
            <a:pathLst>
              <a:path h="610077" w="661330">
                <a:moveTo>
                  <a:pt x="0" y="0"/>
                </a:moveTo>
                <a:lnTo>
                  <a:pt x="661330" y="0"/>
                </a:lnTo>
                <a:lnTo>
                  <a:pt x="661330" y="610076"/>
                </a:lnTo>
                <a:lnTo>
                  <a:pt x="0" y="610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97635" y="5413374"/>
            <a:ext cx="661330" cy="610077"/>
          </a:xfrm>
          <a:custGeom>
            <a:avLst/>
            <a:gdLst/>
            <a:ahLst/>
            <a:cxnLst/>
            <a:rect r="r" b="b" t="t" l="l"/>
            <a:pathLst>
              <a:path h="610077" w="661330">
                <a:moveTo>
                  <a:pt x="0" y="0"/>
                </a:moveTo>
                <a:lnTo>
                  <a:pt x="661330" y="0"/>
                </a:lnTo>
                <a:lnTo>
                  <a:pt x="661330" y="610077"/>
                </a:lnTo>
                <a:lnTo>
                  <a:pt x="0" y="61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97635" y="6490176"/>
            <a:ext cx="661330" cy="610077"/>
          </a:xfrm>
          <a:custGeom>
            <a:avLst/>
            <a:gdLst/>
            <a:ahLst/>
            <a:cxnLst/>
            <a:rect r="r" b="b" t="t" l="l"/>
            <a:pathLst>
              <a:path h="610077" w="661330">
                <a:moveTo>
                  <a:pt x="0" y="0"/>
                </a:moveTo>
                <a:lnTo>
                  <a:pt x="661330" y="0"/>
                </a:lnTo>
                <a:lnTo>
                  <a:pt x="661330" y="610077"/>
                </a:lnTo>
                <a:lnTo>
                  <a:pt x="0" y="61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97635" y="7566978"/>
            <a:ext cx="661330" cy="610077"/>
          </a:xfrm>
          <a:custGeom>
            <a:avLst/>
            <a:gdLst/>
            <a:ahLst/>
            <a:cxnLst/>
            <a:rect r="r" b="b" t="t" l="l"/>
            <a:pathLst>
              <a:path h="610077" w="661330">
                <a:moveTo>
                  <a:pt x="0" y="0"/>
                </a:moveTo>
                <a:lnTo>
                  <a:pt x="661330" y="0"/>
                </a:lnTo>
                <a:lnTo>
                  <a:pt x="661330" y="610076"/>
                </a:lnTo>
                <a:lnTo>
                  <a:pt x="0" y="610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97635" y="8648223"/>
            <a:ext cx="661330" cy="610077"/>
          </a:xfrm>
          <a:custGeom>
            <a:avLst/>
            <a:gdLst/>
            <a:ahLst/>
            <a:cxnLst/>
            <a:rect r="r" b="b" t="t" l="l"/>
            <a:pathLst>
              <a:path h="610077" w="661330">
                <a:moveTo>
                  <a:pt x="0" y="0"/>
                </a:moveTo>
                <a:lnTo>
                  <a:pt x="661330" y="0"/>
                </a:lnTo>
                <a:lnTo>
                  <a:pt x="661330" y="610077"/>
                </a:lnTo>
                <a:lnTo>
                  <a:pt x="0" y="61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98452" y="-90091"/>
            <a:ext cx="7140764" cy="10467182"/>
            <a:chOff x="0" y="0"/>
            <a:chExt cx="9521018" cy="13956243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6"/>
            <a:srcRect l="1618" t="11072" r="26400" b="18586"/>
            <a:stretch>
              <a:fillRect/>
            </a:stretch>
          </p:blipFill>
          <p:spPr>
            <a:xfrm flipH="false" flipV="false">
              <a:off x="0" y="0"/>
              <a:ext cx="9521018" cy="13956243"/>
            </a:xfrm>
            <a:prstGeom prst="rect">
              <a:avLst/>
            </a:prstGeom>
          </p:spPr>
        </p:pic>
      </p:grpSp>
      <p:sp>
        <p:nvSpPr>
          <p:cNvPr name="Freeform 12" id="12"/>
          <p:cNvSpPr/>
          <p:nvPr/>
        </p:nvSpPr>
        <p:spPr>
          <a:xfrm flipH="true" flipV="false" rot="0">
            <a:off x="-98452" y="5143500"/>
            <a:ext cx="7796802" cy="5285582"/>
          </a:xfrm>
          <a:custGeom>
            <a:avLst/>
            <a:gdLst/>
            <a:ahLst/>
            <a:cxnLst/>
            <a:rect r="r" b="b" t="t" l="l"/>
            <a:pathLst>
              <a:path h="5285582" w="7796802">
                <a:moveTo>
                  <a:pt x="7796802" y="0"/>
                </a:moveTo>
                <a:lnTo>
                  <a:pt x="0" y="0"/>
                </a:lnTo>
                <a:lnTo>
                  <a:pt x="0" y="5285582"/>
                </a:lnTo>
                <a:lnTo>
                  <a:pt x="7796802" y="5285582"/>
                </a:lnTo>
                <a:lnTo>
                  <a:pt x="779680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797635" y="1655992"/>
            <a:ext cx="8054774" cy="95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1"/>
              </a:lnSpc>
            </a:pPr>
            <a:r>
              <a:rPr lang="en-US" sz="591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OBSTACULOS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44002" y="3061610"/>
            <a:ext cx="7907678" cy="95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2780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Migración de persistencia local a arquitectura Backend-Driven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44002" y="4133994"/>
            <a:ext cx="8299281" cy="95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2780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Fallas de sincronización y comunicación cliente-servidor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44002" y="5210796"/>
            <a:ext cx="8299281" cy="95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2780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Inestabilidad crítica en el núcleo del servicio de reservas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44002" y="6287597"/>
            <a:ext cx="8443998" cy="95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2780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Complejidad por la incorporación del control multirol global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44002" y="7364399"/>
            <a:ext cx="8299281" cy="95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2780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Vulnerabilidades de seguridad en los identificadores de entidades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44002" y="8445645"/>
            <a:ext cx="7008407" cy="95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2780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Desajustes en la navegación interna y control de sesiones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377086" y="501844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6" y="0"/>
                </a:lnTo>
                <a:lnTo>
                  <a:pt x="12508396" y="12099030"/>
                </a:lnTo>
                <a:lnTo>
                  <a:pt x="0" y="1209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01743" y="-4604658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7" y="0"/>
                </a:lnTo>
                <a:lnTo>
                  <a:pt x="12508397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66393" y="6551359"/>
            <a:ext cx="5720058" cy="3877723"/>
          </a:xfrm>
          <a:custGeom>
            <a:avLst/>
            <a:gdLst/>
            <a:ahLst/>
            <a:cxnLst/>
            <a:rect r="r" b="b" t="t" l="l"/>
            <a:pathLst>
              <a:path h="3877723" w="5720058">
                <a:moveTo>
                  <a:pt x="0" y="0"/>
                </a:moveTo>
                <a:lnTo>
                  <a:pt x="5720059" y="0"/>
                </a:lnTo>
                <a:lnTo>
                  <a:pt x="5720059" y="3877723"/>
                </a:lnTo>
                <a:lnTo>
                  <a:pt x="0" y="3877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8452" y="6551359"/>
            <a:ext cx="5720058" cy="3877723"/>
          </a:xfrm>
          <a:custGeom>
            <a:avLst/>
            <a:gdLst/>
            <a:ahLst/>
            <a:cxnLst/>
            <a:rect r="r" b="b" t="t" l="l"/>
            <a:pathLst>
              <a:path h="3877723" w="5720058">
                <a:moveTo>
                  <a:pt x="5720059" y="0"/>
                </a:moveTo>
                <a:lnTo>
                  <a:pt x="0" y="0"/>
                </a:lnTo>
                <a:lnTo>
                  <a:pt x="0" y="3877723"/>
                </a:lnTo>
                <a:lnTo>
                  <a:pt x="5720059" y="3877723"/>
                </a:lnTo>
                <a:lnTo>
                  <a:pt x="572005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394381" y="2603297"/>
            <a:ext cx="11499237" cy="4891076"/>
            <a:chOff x="0" y="0"/>
            <a:chExt cx="4309742" cy="1833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09742" cy="1833102"/>
            </a:xfrm>
            <a:custGeom>
              <a:avLst/>
              <a:gdLst/>
              <a:ahLst/>
              <a:cxnLst/>
              <a:rect r="r" b="b" t="t" l="l"/>
              <a:pathLst>
                <a:path h="1833102" w="4309742">
                  <a:moveTo>
                    <a:pt x="23564" y="0"/>
                  </a:moveTo>
                  <a:lnTo>
                    <a:pt x="4286178" y="0"/>
                  </a:lnTo>
                  <a:cubicBezTo>
                    <a:pt x="4299192" y="0"/>
                    <a:pt x="4309742" y="10550"/>
                    <a:pt x="4309742" y="23564"/>
                  </a:cubicBezTo>
                  <a:lnTo>
                    <a:pt x="4309742" y="1809538"/>
                  </a:lnTo>
                  <a:cubicBezTo>
                    <a:pt x="4309742" y="1815788"/>
                    <a:pt x="4307259" y="1821781"/>
                    <a:pt x="4302840" y="1826200"/>
                  </a:cubicBezTo>
                  <a:cubicBezTo>
                    <a:pt x="4298421" y="1830619"/>
                    <a:pt x="4292428" y="1833102"/>
                    <a:pt x="4286178" y="1833102"/>
                  </a:cubicBezTo>
                  <a:lnTo>
                    <a:pt x="23564" y="1833102"/>
                  </a:lnTo>
                  <a:cubicBezTo>
                    <a:pt x="10550" y="1833102"/>
                    <a:pt x="0" y="1822552"/>
                    <a:pt x="0" y="1809538"/>
                  </a:cubicBezTo>
                  <a:lnTo>
                    <a:pt x="0" y="23564"/>
                  </a:lnTo>
                  <a:cubicBezTo>
                    <a:pt x="0" y="10550"/>
                    <a:pt x="10550" y="0"/>
                    <a:pt x="23564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309742" cy="1890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285762" y="4281935"/>
            <a:ext cx="11607857" cy="114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0"/>
              </a:lnSpc>
            </a:pPr>
            <a:r>
              <a:rPr lang="en-US" sz="71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Mostrar app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377086" y="501844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6" y="0"/>
                </a:lnTo>
                <a:lnTo>
                  <a:pt x="12508396" y="12099030"/>
                </a:lnTo>
                <a:lnTo>
                  <a:pt x="0" y="1209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01743" y="-4604658"/>
            <a:ext cx="12508396" cy="12099030"/>
          </a:xfrm>
          <a:custGeom>
            <a:avLst/>
            <a:gdLst/>
            <a:ahLst/>
            <a:cxnLst/>
            <a:rect r="r" b="b" t="t" l="l"/>
            <a:pathLst>
              <a:path h="12099030" w="12508396">
                <a:moveTo>
                  <a:pt x="0" y="0"/>
                </a:moveTo>
                <a:lnTo>
                  <a:pt x="12508397" y="0"/>
                </a:lnTo>
                <a:lnTo>
                  <a:pt x="12508397" y="12099031"/>
                </a:lnTo>
                <a:lnTo>
                  <a:pt x="0" y="120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66393" y="6551359"/>
            <a:ext cx="5720058" cy="3877723"/>
          </a:xfrm>
          <a:custGeom>
            <a:avLst/>
            <a:gdLst/>
            <a:ahLst/>
            <a:cxnLst/>
            <a:rect r="r" b="b" t="t" l="l"/>
            <a:pathLst>
              <a:path h="3877723" w="5720058">
                <a:moveTo>
                  <a:pt x="0" y="0"/>
                </a:moveTo>
                <a:lnTo>
                  <a:pt x="5720059" y="0"/>
                </a:lnTo>
                <a:lnTo>
                  <a:pt x="5720059" y="3877723"/>
                </a:lnTo>
                <a:lnTo>
                  <a:pt x="0" y="3877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8452" y="6551359"/>
            <a:ext cx="5720058" cy="3877723"/>
          </a:xfrm>
          <a:custGeom>
            <a:avLst/>
            <a:gdLst/>
            <a:ahLst/>
            <a:cxnLst/>
            <a:rect r="r" b="b" t="t" l="l"/>
            <a:pathLst>
              <a:path h="3877723" w="5720058">
                <a:moveTo>
                  <a:pt x="5720059" y="0"/>
                </a:moveTo>
                <a:lnTo>
                  <a:pt x="0" y="0"/>
                </a:lnTo>
                <a:lnTo>
                  <a:pt x="0" y="3877723"/>
                </a:lnTo>
                <a:lnTo>
                  <a:pt x="5720059" y="3877723"/>
                </a:lnTo>
                <a:lnTo>
                  <a:pt x="572005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394381" y="2603297"/>
            <a:ext cx="11499237" cy="4891076"/>
            <a:chOff x="0" y="0"/>
            <a:chExt cx="4309742" cy="1833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09742" cy="1833102"/>
            </a:xfrm>
            <a:custGeom>
              <a:avLst/>
              <a:gdLst/>
              <a:ahLst/>
              <a:cxnLst/>
              <a:rect r="r" b="b" t="t" l="l"/>
              <a:pathLst>
                <a:path h="1833102" w="4309742">
                  <a:moveTo>
                    <a:pt x="23564" y="0"/>
                  </a:moveTo>
                  <a:lnTo>
                    <a:pt x="4286178" y="0"/>
                  </a:lnTo>
                  <a:cubicBezTo>
                    <a:pt x="4299192" y="0"/>
                    <a:pt x="4309742" y="10550"/>
                    <a:pt x="4309742" y="23564"/>
                  </a:cubicBezTo>
                  <a:lnTo>
                    <a:pt x="4309742" y="1809538"/>
                  </a:lnTo>
                  <a:cubicBezTo>
                    <a:pt x="4309742" y="1815788"/>
                    <a:pt x="4307259" y="1821781"/>
                    <a:pt x="4302840" y="1826200"/>
                  </a:cubicBezTo>
                  <a:cubicBezTo>
                    <a:pt x="4298421" y="1830619"/>
                    <a:pt x="4292428" y="1833102"/>
                    <a:pt x="4286178" y="1833102"/>
                  </a:cubicBezTo>
                  <a:lnTo>
                    <a:pt x="23564" y="1833102"/>
                  </a:lnTo>
                  <a:cubicBezTo>
                    <a:pt x="10550" y="1833102"/>
                    <a:pt x="0" y="1822552"/>
                    <a:pt x="0" y="1809538"/>
                  </a:cubicBezTo>
                  <a:lnTo>
                    <a:pt x="0" y="23564"/>
                  </a:lnTo>
                  <a:cubicBezTo>
                    <a:pt x="0" y="10550"/>
                    <a:pt x="10550" y="0"/>
                    <a:pt x="23564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717FE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309742" cy="1890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003199" y="3235910"/>
            <a:ext cx="8281601" cy="357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sz="2199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El desar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ollo d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Po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ntCheck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itió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ap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icar de f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or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egrada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conoci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os de desarrollo móvil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ba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ke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d, ba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 de datos, arqui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tur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de softw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re y gest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ón de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royectos. La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olu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ó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n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obt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cumpl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obj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vo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plan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in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almente y establece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un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 base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ecnológica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sólida para f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uras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amp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ciones, inc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or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porando bu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nas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prácticas d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 d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esarr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lo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, segu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idad y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man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tenibilid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que la hacen esc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ala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ble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y adaptable a d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intos tipos de negocios b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sados 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n servicios</a:t>
            </a:r>
            <a:r>
              <a:rPr lang="en-US" sz="2199" strike="noStrike" u="none">
                <a:solidFill>
                  <a:srgbClr val="242424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0072" y="962025"/>
            <a:ext cx="11607857" cy="114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0"/>
              </a:lnSpc>
            </a:pPr>
            <a:r>
              <a:rPr lang="en-US" sz="7146" b="true">
                <a:solidFill>
                  <a:srgbClr val="2D32A2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Conclusiones y preguntas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413792" y="0"/>
            <a:ext cx="3874208" cy="970433"/>
          </a:xfrm>
          <a:custGeom>
            <a:avLst/>
            <a:gdLst/>
            <a:ahLst/>
            <a:cxnLst/>
            <a:rect r="r" b="b" t="t" l="l"/>
            <a:pathLst>
              <a:path h="970433" w="3874208">
                <a:moveTo>
                  <a:pt x="0" y="0"/>
                </a:moveTo>
                <a:lnTo>
                  <a:pt x="3874208" y="0"/>
                </a:lnTo>
                <a:lnTo>
                  <a:pt x="3874208" y="970433"/>
                </a:lnTo>
                <a:lnTo>
                  <a:pt x="0" y="970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DAHMxi7eT0M</dc:identifier>
  <dcterms:modified xsi:type="dcterms:W3CDTF">2011-08-01T06:04:30Z</dcterms:modified>
  <cp:revision>1</cp:revision>
  <dc:title>Presentación Proyecto de Negocios Moderno Azul</dc:title>
</cp:coreProperties>
</file>